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50800" cy="4114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280160"/>
            <a:ext cx="9144000" cy="320040"/>
          </a:xfrm>
          <a:prstGeom prst="rect">
            <a:avLst/>
          </a:prstGeom>
          <a:noFill/>
        </p:spPr>
        <p:txBody>
          <a:bodyPr wrap="none">
            <a:spAutoFit/>
          </a:bodyPr>
          <a:lstStyle/>
          <a:p>
            <a:pPr>
              <a:defRPr sz="1000" b="1">
                <a:solidFill>
                  <a:srgbClr val="38BDF8"/>
                </a:solidFill>
                <a:latin typeface="Segoe UI"/>
              </a:defRPr>
            </a:pPr>
            <a:r>
              <a:t>SECURITY BRIEFING SERIES  //  FOUNDATIONAL MODULE</a:t>
            </a:r>
          </a:p>
        </p:txBody>
      </p:sp>
      <p:sp>
        <p:nvSpPr>
          <p:cNvPr id="5" name="TextBox 4"/>
          <p:cNvSpPr txBox="1"/>
          <p:nvPr/>
        </p:nvSpPr>
        <p:spPr>
          <a:xfrm>
            <a:off x="1005840" y="1691640"/>
            <a:ext cx="10058400" cy="2011680"/>
          </a:xfrm>
          <a:prstGeom prst="rect">
            <a:avLst/>
          </a:prstGeom>
          <a:noFill/>
        </p:spPr>
        <p:txBody>
          <a:bodyPr wrap="square">
            <a:spAutoFit/>
          </a:bodyPr>
          <a:lstStyle/>
          <a:p>
            <a:pPr>
              <a:defRPr sz="3800" b="1">
                <a:solidFill>
                  <a:srgbClr val="F1F5F9"/>
                </a:solidFill>
                <a:latin typeface="Segoe UI"/>
              </a:defRPr>
            </a:pPr>
            <a:r>
              <a:t>Cyber Threat Intelligence (CTI)</a:t>
            </a:r>
          </a:p>
          <a:p>
            <a:pPr>
              <a:spcBef>
                <a:spcPts val="800"/>
              </a:spcBef>
              <a:defRPr sz="1700">
                <a:solidFill>
                  <a:srgbClr val="94A3B8"/>
                </a:solidFill>
                <a:latin typeface="Segoe UI"/>
              </a:defRPr>
            </a:pPr>
            <a:r>
              <a:t>Prinsip Operasional, Model Analisis, dan Ekosistem Pertahanan Berbasis Ancaman</a:t>
            </a:r>
          </a:p>
          <a:p>
            <a:pPr>
              <a:spcBef>
                <a:spcPts val="1600"/>
              </a:spcBef>
              <a:defRPr sz="1200">
                <a:solidFill>
                  <a:srgbClr val="64748B"/>
                </a:solidFill>
                <a:latin typeface="Segoe UI"/>
              </a:defRPr>
            </a:pPr>
            <a:r>
              <a:t>Sebuah panduan komprehensif bagi praktisi keamanan siber, analis SOC, dan pengambil keputusan teknis.</a:t>
            </a:r>
          </a:p>
        </p:txBody>
      </p:sp>
      <p:sp>
        <p:nvSpPr>
          <p:cNvPr id="6" name="Rectangle 5"/>
          <p:cNvSpPr/>
          <p:nvPr/>
        </p:nvSpPr>
        <p:spPr>
          <a:xfrm>
            <a:off x="1005840" y="4389120"/>
            <a:ext cx="10241280" cy="1371600"/>
          </a:xfrm>
          <a:prstGeom prst="rect">
            <a:avLst/>
          </a:prstGeom>
          <a:solidFill>
            <a:srgbClr val="121826"/>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480560"/>
            <a:ext cx="9875520" cy="1188720"/>
          </a:xfrm>
          <a:prstGeom prst="rect">
            <a:avLst/>
          </a:prstGeom>
          <a:noFill/>
        </p:spPr>
        <p:txBody>
          <a:bodyPr wrap="square">
            <a:spAutoFit/>
          </a:bodyPr>
          <a:lstStyle/>
          <a:p>
            <a:pPr>
              <a:defRPr sz="950" b="1">
                <a:solidFill>
                  <a:srgbClr val="FBBF24"/>
                </a:solidFill>
                <a:latin typeface="Segoe UI"/>
              </a:defRPr>
            </a:pPr>
            <a:r>
              <a:t>CAKUPAN PEMBAHASAN:</a:t>
            </a:r>
          </a:p>
          <a:p>
            <a:pPr>
              <a:spcBef>
                <a:spcPts val="400"/>
              </a:spcBef>
              <a:defRPr sz="1000">
                <a:solidFill>
                  <a:srgbClr val="94A3B8"/>
                </a:solidFill>
                <a:latin typeface="Segoe UI"/>
              </a:defRPr>
            </a:pPr>
            <a:r>
              <a:t>01. Kesenjangan Pertahanan Reaktif  |  02. Taksonomi Data vs Intelijen  |  03. 4 Tingkatan Konsumen CTI</a:t>
            </a:r>
            <a:br/>
            <a:r>
              <a:t>04. Siklus Intelijen 6 Tahap  |  05. Diamond Model &amp; Kill Chain  |  06. Pyramid of Pain &amp; Biaya Lawan</a:t>
            </a:r>
            <a:br/>
            <a:r>
              <a:t>07. Active Deception &amp; Honeytokens  |  08. Atribusi Teknis &amp; STIX/TAXII  |  09. Otomasi Analisis Modern</a:t>
            </a:r>
          </a:p>
        </p:txBody>
      </p:sp>
      <p:sp>
        <p:nvSpPr>
          <p:cNvPr id="8" name="TextBox 7"/>
          <p:cNvSpPr txBox="1"/>
          <p:nvPr/>
        </p:nvSpPr>
        <p:spPr>
          <a:xfrm>
            <a:off x="1005840" y="5943600"/>
            <a:ext cx="10241280" cy="365760"/>
          </a:xfrm>
          <a:prstGeom prst="rect">
            <a:avLst/>
          </a:prstGeom>
          <a:noFill/>
        </p:spPr>
        <p:txBody>
          <a:bodyPr wrap="none">
            <a:spAutoFit/>
          </a:bodyPr>
          <a:lstStyle/>
          <a:p>
            <a:pPr>
              <a:defRPr sz="900">
                <a:solidFill>
                  <a:srgbClr val="64748B"/>
                </a:solidFill>
                <a:latin typeface="Segoe UI"/>
              </a:defRPr>
            </a:pPr>
            <a:r>
              <a:t>DISTRIBUSI: TLP:CLEAR  •  TARGET AUDIENS: SOC L1-L3, THREAT HUNTER, SECURITY LEADERSHIP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10728655" cy="12700"/>
          </a:xfrm>
          <a:prstGeom prst="rect">
            <a:avLst/>
          </a:prstGeom>
          <a:solidFill>
            <a:srgbClr val="28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00" b="1">
                <a:solidFill>
                  <a:srgbClr val="38BDF8"/>
                </a:solidFill>
                <a:latin typeface="Segoe UI"/>
              </a:defRPr>
            </a:pPr>
            <a:r>
              <a:t>KONTEKS INDUSTRI &amp; MASALAH LAPANGAN</a:t>
            </a:r>
          </a:p>
        </p:txBody>
      </p:sp>
      <p:sp>
        <p:nvSpPr>
          <p:cNvPr id="5" name="TextBox 4"/>
          <p:cNvSpPr txBox="1"/>
          <p:nvPr/>
        </p:nvSpPr>
        <p:spPr>
          <a:xfrm>
            <a:off x="8229600" y="320040"/>
            <a:ext cx="3200400" cy="274320"/>
          </a:xfrm>
          <a:prstGeom prst="rect">
            <a:avLst/>
          </a:prstGeom>
          <a:noFill/>
        </p:spPr>
        <p:txBody>
          <a:bodyPr wrap="none">
            <a:spAutoFit/>
          </a:bodyPr>
          <a:lstStyle/>
          <a:p>
            <a:pPr algn="r">
              <a:defRPr sz="850" b="1">
                <a:solidFill>
                  <a:srgbClr val="64748B"/>
                </a:solidFill>
                <a:latin typeface="Segoe UI"/>
              </a:defRPr>
            </a:pPr>
            <a:r>
              <a:t>TLP:CLEAR  //  THREAT INTEL BRIEFING</a:t>
            </a:r>
          </a:p>
        </p:txBody>
      </p:sp>
      <p:sp>
        <p:nvSpPr>
          <p:cNvPr id="6" name="TextBox 5"/>
          <p:cNvSpPr txBox="1"/>
          <p:nvPr/>
        </p:nvSpPr>
        <p:spPr>
          <a:xfrm>
            <a:off x="731520" y="548640"/>
            <a:ext cx="10728655" cy="594360"/>
          </a:xfrm>
          <a:prstGeom prst="rect">
            <a:avLst/>
          </a:prstGeom>
          <a:noFill/>
        </p:spPr>
        <p:txBody>
          <a:bodyPr wrap="square">
            <a:spAutoFit/>
          </a:bodyPr>
          <a:lstStyle/>
          <a:p>
            <a:pPr>
              <a:defRPr sz="2000" b="1">
                <a:solidFill>
                  <a:srgbClr val="F1F5F9"/>
                </a:solidFill>
                <a:latin typeface="Segoe UI"/>
              </a:defRPr>
            </a:pPr>
            <a:r>
              <a:t>Kelemahan Model Pertahanan Reaktif: Mengapa Perimeter Saja Tidak Cukup?</a:t>
            </a:r>
          </a:p>
        </p:txBody>
      </p:sp>
      <p:sp>
        <p:nvSpPr>
          <p:cNvPr id="7" name="Rectangle 6"/>
          <p:cNvSpPr/>
          <p:nvPr/>
        </p:nvSpPr>
        <p:spPr>
          <a:xfrm>
            <a:off x="731520" y="1463040"/>
            <a:ext cx="5120640" cy="4846320"/>
          </a:xfrm>
          <a:prstGeom prst="rect">
            <a:avLst/>
          </a:prstGeom>
          <a:solidFill>
            <a:srgbClr val="121826"/>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480560"/>
          </a:xfrm>
          <a:prstGeom prst="rect">
            <a:avLst/>
          </a:prstGeom>
          <a:noFill/>
        </p:spPr>
        <p:txBody>
          <a:bodyPr wrap="square">
            <a:spAutoFit/>
          </a:bodyPr>
          <a:lstStyle/>
          <a:p>
            <a:pPr>
              <a:defRPr sz="1100" b="1">
                <a:solidFill>
                  <a:srgbClr val="F87171"/>
                </a:solidFill>
                <a:latin typeface="Segoe UI"/>
              </a:defRPr>
            </a:pPr>
            <a:r>
              <a:t>FAKTA LAPANGAN: ASIMETRI KEAMANAN SIBER</a:t>
            </a:r>
          </a:p>
          <a:p>
            <a:pPr>
              <a:spcBef>
                <a:spcPts val="1400"/>
              </a:spcBef>
              <a:defRPr sz="1200" b="1">
                <a:solidFill>
                  <a:srgbClr val="F1F5F9"/>
                </a:solidFill>
                <a:latin typeface="Segoe UI"/>
              </a:defRPr>
            </a:pPr>
            <a:r>
              <a:t>Median Dwell Time Tinggi</a:t>
            </a:r>
          </a:p>
          <a:p>
            <a:pPr>
              <a:spcBef>
                <a:spcPts val="300"/>
              </a:spcBef>
              <a:defRPr sz="1050">
                <a:solidFill>
                  <a:srgbClr val="94A3B8"/>
                </a:solidFill>
                <a:latin typeface="Segoe UI"/>
              </a:defRPr>
            </a:pPr>
            <a:r>
              <a:t>Penyerang rata-rata berada di dalam jaringan korban selama berhari-hari hingga berminggu-minggu sebelum terdeteksi secara tidak sengaja.</a:t>
            </a:r>
          </a:p>
          <a:p>
            <a:pPr>
              <a:spcBef>
                <a:spcPts val="1400"/>
              </a:spcBef>
              <a:defRPr sz="1200" b="1">
                <a:solidFill>
                  <a:srgbClr val="F1F5F9"/>
                </a:solidFill>
                <a:latin typeface="Segoe UI"/>
              </a:defRPr>
            </a:pPr>
            <a:r>
              <a:t>Alert Fatigue Kronis</a:t>
            </a:r>
          </a:p>
          <a:p>
            <a:pPr>
              <a:spcBef>
                <a:spcPts val="300"/>
              </a:spcBef>
              <a:defRPr sz="1050">
                <a:solidFill>
                  <a:srgbClr val="94A3B8"/>
                </a:solidFill>
                <a:latin typeface="Segoe UI"/>
              </a:defRPr>
            </a:pPr>
            <a:r>
              <a:t>SOC enterprise menerima 5.000 hingga 15.000 peringatan per hari. Lebih dari 60% alarm diabaikan karena rasio false-positive yang masif.</a:t>
            </a:r>
          </a:p>
          <a:p>
            <a:pPr>
              <a:spcBef>
                <a:spcPts val="1400"/>
              </a:spcBef>
              <a:defRPr sz="1200" b="1">
                <a:solidFill>
                  <a:srgbClr val="F1F5F9"/>
                </a:solidFill>
                <a:latin typeface="Segoe UI"/>
              </a:defRPr>
            </a:pPr>
            <a:r>
              <a:t>Kerugian Tak Terelakkan</a:t>
            </a:r>
          </a:p>
          <a:p>
            <a:pPr>
              <a:spcBef>
                <a:spcPts val="300"/>
              </a:spcBef>
              <a:defRPr sz="1050">
                <a:solidFill>
                  <a:srgbClr val="94A3B8"/>
                </a:solidFill>
                <a:latin typeface="Segoe UI"/>
              </a:defRPr>
            </a:pPr>
            <a:r>
              <a:t>Deteksi reaktif (menunggu alert SIEM berbunyi) berarti malware telah berhasil dieksekusi atau data penting telah mulai dienkripsi.</a:t>
            </a:r>
          </a:p>
        </p:txBody>
      </p:sp>
      <p:sp>
        <p:nvSpPr>
          <p:cNvPr id="9" name="Rectangle 8"/>
          <p:cNvSpPr/>
          <p:nvPr/>
        </p:nvSpPr>
        <p:spPr>
          <a:xfrm>
            <a:off x="6217920" y="1463040"/>
            <a:ext cx="5212080" cy="4846320"/>
          </a:xfrm>
          <a:prstGeom prst="rect">
            <a:avLst/>
          </a:prstGeom>
          <a:solidFill>
            <a:srgbClr val="121826"/>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480560"/>
          </a:xfrm>
          <a:prstGeom prst="rect">
            <a:avLst/>
          </a:prstGeom>
          <a:noFill/>
        </p:spPr>
        <p:txBody>
          <a:bodyPr wrap="square">
            <a:spAutoFit/>
          </a:bodyPr>
          <a:lstStyle/>
          <a:p>
            <a:pPr>
              <a:defRPr sz="1100" b="1">
                <a:solidFill>
                  <a:srgbClr val="34D399"/>
                </a:solidFill>
                <a:latin typeface="Segoe UI"/>
              </a:defRPr>
            </a:pPr>
            <a:r>
              <a:t>PERUBAHAN PARADIGMA: THREAT-INFORMED DEFENSE</a:t>
            </a:r>
          </a:p>
          <a:p>
            <a:pPr>
              <a:spcBef>
                <a:spcPts val="1400"/>
              </a:spcBef>
              <a:defRPr sz="1200" b="1">
                <a:solidFill>
                  <a:srgbClr val="F1F5F9"/>
                </a:solidFill>
                <a:latin typeface="Segoe UI"/>
              </a:defRPr>
            </a:pPr>
            <a:r>
              <a:t>Fokus Keluar (External Visibility)</a:t>
            </a:r>
          </a:p>
          <a:p>
            <a:pPr>
              <a:spcBef>
                <a:spcPts val="300"/>
              </a:spcBef>
              <a:defRPr sz="1050">
                <a:solidFill>
                  <a:srgbClr val="94A3B8"/>
                </a:solidFill>
                <a:latin typeface="Segoe UI"/>
              </a:defRPr>
            </a:pPr>
            <a:r>
              <a:t>Bukan hanya melihat log server sendiri, tetapi memetakan infrastruktur penyerang, kampanye malware aktif, dan sektor bisnis yang ditargetkan.</a:t>
            </a:r>
          </a:p>
          <a:p>
            <a:pPr>
              <a:spcBef>
                <a:spcPts val="1400"/>
              </a:spcBef>
              <a:defRPr sz="1200" b="1">
                <a:solidFill>
                  <a:srgbClr val="F1F5F9"/>
                </a:solidFill>
                <a:latin typeface="Segoe UI"/>
              </a:defRPr>
            </a:pPr>
            <a:r>
              <a:t>Prioritas Berbasis Relevansi</a:t>
            </a:r>
          </a:p>
          <a:p>
            <a:pPr>
              <a:spcBef>
                <a:spcPts val="300"/>
              </a:spcBef>
              <a:defRPr sz="1050">
                <a:solidFill>
                  <a:srgbClr val="94A3B8"/>
                </a:solidFill>
                <a:latin typeface="Segoe UI"/>
              </a:defRPr>
            </a:pPr>
            <a:r>
              <a:t>Alih-alih memblokir jutaan IP acak, fokuskan energi pada TTP (Taktik, Teknik, Prosedur) dari aktor ancaman yang memang menargetkan industri kita.</a:t>
            </a:r>
          </a:p>
          <a:p>
            <a:pPr>
              <a:spcBef>
                <a:spcPts val="1400"/>
              </a:spcBef>
              <a:defRPr sz="1200" b="1">
                <a:solidFill>
                  <a:srgbClr val="F1F5F9"/>
                </a:solidFill>
                <a:latin typeface="Segoe UI"/>
              </a:defRPr>
            </a:pPr>
            <a:r>
              <a:t>Pencegahan di Tahap Awal</a:t>
            </a:r>
          </a:p>
          <a:p>
            <a:pPr>
              <a:spcBef>
                <a:spcPts val="300"/>
              </a:spcBef>
              <a:defRPr sz="1050">
                <a:solidFill>
                  <a:srgbClr val="94A3B8"/>
                </a:solidFill>
                <a:latin typeface="Segoe UI"/>
              </a:defRPr>
            </a:pPr>
            <a:r>
              <a:t>Memutus serangan pada fase pengintaian (Reconnaissance) atau pengiriman (Delivery), jauh sebelum penyerang mencapai tujuannya.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10728655" cy="12700"/>
          </a:xfrm>
          <a:prstGeom prst="rect">
            <a:avLst/>
          </a:prstGeom>
          <a:solidFill>
            <a:srgbClr val="28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00" b="1">
                <a:solidFill>
                  <a:srgbClr val="38BDF8"/>
                </a:solidFill>
                <a:latin typeface="Segoe UI"/>
              </a:defRPr>
            </a:pPr>
            <a:r>
              <a:t>TAKSONOMI &amp; DEFINISI</a:t>
            </a:r>
          </a:p>
        </p:txBody>
      </p:sp>
      <p:sp>
        <p:nvSpPr>
          <p:cNvPr id="5" name="TextBox 4"/>
          <p:cNvSpPr txBox="1"/>
          <p:nvPr/>
        </p:nvSpPr>
        <p:spPr>
          <a:xfrm>
            <a:off x="8229600" y="320040"/>
            <a:ext cx="3200400" cy="274320"/>
          </a:xfrm>
          <a:prstGeom prst="rect">
            <a:avLst/>
          </a:prstGeom>
          <a:noFill/>
        </p:spPr>
        <p:txBody>
          <a:bodyPr wrap="none">
            <a:spAutoFit/>
          </a:bodyPr>
          <a:lstStyle/>
          <a:p>
            <a:pPr algn="r">
              <a:defRPr sz="850" b="1">
                <a:solidFill>
                  <a:srgbClr val="64748B"/>
                </a:solidFill>
                <a:latin typeface="Segoe UI"/>
              </a:defRPr>
            </a:pPr>
            <a:r>
              <a:t>TLP:CLEAR  //  THREAT INTEL BRIEFING</a:t>
            </a:r>
          </a:p>
        </p:txBody>
      </p:sp>
      <p:sp>
        <p:nvSpPr>
          <p:cNvPr id="6" name="TextBox 5"/>
          <p:cNvSpPr txBox="1"/>
          <p:nvPr/>
        </p:nvSpPr>
        <p:spPr>
          <a:xfrm>
            <a:off x="731520" y="548640"/>
            <a:ext cx="10728655" cy="594360"/>
          </a:xfrm>
          <a:prstGeom prst="rect">
            <a:avLst/>
          </a:prstGeom>
          <a:noFill/>
        </p:spPr>
        <p:txBody>
          <a:bodyPr wrap="square">
            <a:spAutoFit/>
          </a:bodyPr>
          <a:lstStyle/>
          <a:p>
            <a:pPr>
              <a:defRPr sz="2000" b="1">
                <a:solidFill>
                  <a:srgbClr val="F1F5F9"/>
                </a:solidFill>
                <a:latin typeface="Segoe UI"/>
              </a:defRPr>
            </a:pPr>
            <a:r>
              <a:t>Data Mentah vs Informasi vs Intelijen Ancaman (CTI)</a:t>
            </a:r>
          </a:p>
        </p:txBody>
      </p:sp>
      <p:sp>
        <p:nvSpPr>
          <p:cNvPr id="7" name="Rectangle 6"/>
          <p:cNvSpPr/>
          <p:nvPr/>
        </p:nvSpPr>
        <p:spPr>
          <a:xfrm>
            <a:off x="731520" y="1463040"/>
            <a:ext cx="10728655" cy="1371600"/>
          </a:xfrm>
          <a:prstGeom prst="rect">
            <a:avLst/>
          </a:prstGeom>
          <a:solidFill>
            <a:srgbClr val="121826"/>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10332720" cy="1188720"/>
          </a:xfrm>
          <a:prstGeom prst="rect">
            <a:avLst/>
          </a:prstGeom>
          <a:noFill/>
        </p:spPr>
        <p:txBody>
          <a:bodyPr wrap="square">
            <a:spAutoFit/>
          </a:bodyPr>
          <a:lstStyle/>
          <a:p>
            <a:pPr>
              <a:defRPr sz="1100" b="1">
                <a:solidFill>
                  <a:srgbClr val="64748B"/>
                </a:solidFill>
                <a:latin typeface="Segoe UI"/>
              </a:defRPr>
            </a:pPr>
            <a:r>
              <a:t>TINGKAT 1: DATA MENTAH   |   Nilai Operasional: Rendah (Hanya mencatat kejadian masa lalu)</a:t>
            </a:r>
          </a:p>
          <a:p>
            <a:pPr>
              <a:spcBef>
                <a:spcPts val="200"/>
              </a:spcBef>
              <a:defRPr sz="1050">
                <a:solidFill>
                  <a:srgbClr val="F1F5F9"/>
                </a:solidFill>
                <a:latin typeface="Segoe UI"/>
              </a:defRPr>
            </a:pPr>
            <a:r>
              <a:t>Catatan fakta atomik tanpa konteks, belum diproses, belum dapat dijadikan dasar tindakan.</a:t>
            </a:r>
          </a:p>
          <a:p>
            <a:pPr>
              <a:spcBef>
                <a:spcPts val="300"/>
              </a:spcBef>
              <a:defRPr sz="950">
                <a:solidFill>
                  <a:srgbClr val="94A3B8"/>
                </a:solidFill>
                <a:latin typeface="Segoe UI"/>
              </a:defRPr>
            </a:pPr>
            <a:r>
              <a:t>Contoh Kasus:</a:t>
            </a:r>
            <a:br/>
            <a:r>
              <a:t>Log firewall mencatat adanya koneksi masuk dari 198.51.100.25 pada port 443 pada jam 03:12:10 UTC.</a:t>
            </a:r>
          </a:p>
        </p:txBody>
      </p:sp>
      <p:sp>
        <p:nvSpPr>
          <p:cNvPr id="9" name="Rectangle 8"/>
          <p:cNvSpPr/>
          <p:nvPr/>
        </p:nvSpPr>
        <p:spPr>
          <a:xfrm>
            <a:off x="731520" y="3017520"/>
            <a:ext cx="10728655" cy="1371600"/>
          </a:xfrm>
          <a:prstGeom prst="rect">
            <a:avLst/>
          </a:prstGeom>
          <a:solidFill>
            <a:srgbClr val="121826"/>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108960"/>
            <a:ext cx="10332720" cy="1188720"/>
          </a:xfrm>
          <a:prstGeom prst="rect">
            <a:avLst/>
          </a:prstGeom>
          <a:noFill/>
        </p:spPr>
        <p:txBody>
          <a:bodyPr wrap="square">
            <a:spAutoFit/>
          </a:bodyPr>
          <a:lstStyle/>
          <a:p>
            <a:pPr>
              <a:defRPr sz="1100" b="1">
                <a:solidFill>
                  <a:srgbClr val="60A5FA"/>
                </a:solidFill>
                <a:latin typeface="Segoe UI"/>
              </a:defRPr>
            </a:pPr>
            <a:r>
              <a:t>TINGKAT 2: INFORMASI   |   Nilai Operasional: Menengah (Menjelaskan aktivitas teknis)</a:t>
            </a:r>
          </a:p>
          <a:p>
            <a:pPr>
              <a:spcBef>
                <a:spcPts val="200"/>
              </a:spcBef>
              <a:defRPr sz="1050">
                <a:solidFill>
                  <a:srgbClr val="F1F5F9"/>
                </a:solidFill>
                <a:latin typeface="Segoe UI"/>
              </a:defRPr>
            </a:pPr>
            <a:r>
              <a:t>Data yang telah diagregasi, dikelompokkan, dan diperkaya dengan metadata struktural.</a:t>
            </a:r>
          </a:p>
          <a:p>
            <a:pPr>
              <a:spcBef>
                <a:spcPts val="300"/>
              </a:spcBef>
              <a:defRPr sz="950">
                <a:solidFill>
                  <a:srgbClr val="94A3B8"/>
                </a:solidFill>
                <a:latin typeface="Segoe UI"/>
              </a:defRPr>
            </a:pPr>
            <a:r>
              <a:t>Contoh Kasus:</a:t>
            </a:r>
            <a:br/>
            <a:r>
              <a:t>IP 198.51.100.25 terdeteksi melakukan SYN scan ke 85 port dalam 3 detik, lalu mencoba autentikasi SSH sebanyak 12 kali.</a:t>
            </a:r>
          </a:p>
        </p:txBody>
      </p:sp>
      <p:sp>
        <p:nvSpPr>
          <p:cNvPr id="11" name="Rectangle 10"/>
          <p:cNvSpPr/>
          <p:nvPr/>
        </p:nvSpPr>
        <p:spPr>
          <a:xfrm>
            <a:off x="731520" y="4572000"/>
            <a:ext cx="10728655" cy="1371600"/>
          </a:xfrm>
          <a:prstGeom prst="rect">
            <a:avLst/>
          </a:prstGeom>
          <a:solidFill>
            <a:srgbClr val="1218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663440"/>
            <a:ext cx="10332720" cy="1188720"/>
          </a:xfrm>
          <a:prstGeom prst="rect">
            <a:avLst/>
          </a:prstGeom>
          <a:noFill/>
        </p:spPr>
        <p:txBody>
          <a:bodyPr wrap="square">
            <a:spAutoFit/>
          </a:bodyPr>
          <a:lstStyle/>
          <a:p>
            <a:pPr>
              <a:defRPr sz="1100" b="1">
                <a:solidFill>
                  <a:srgbClr val="34D399"/>
                </a:solidFill>
                <a:latin typeface="Segoe UI"/>
              </a:defRPr>
            </a:pPr>
            <a:r>
              <a:t>TINGKAT 3: INTELIJEN (CTI)   |   Nilai Operasional: Kritis &amp; Actionable (Mencegah kerugian nyata)</a:t>
            </a:r>
          </a:p>
          <a:p>
            <a:pPr>
              <a:spcBef>
                <a:spcPts val="200"/>
              </a:spcBef>
              <a:defRPr sz="1050">
                <a:solidFill>
                  <a:srgbClr val="F1F5F9"/>
                </a:solidFill>
                <a:latin typeface="Segoe UI"/>
              </a:defRPr>
            </a:pPr>
            <a:r>
              <a:t>Informasi yang telah diverifikasi, dianalisis motif dan pelakunya, serta menuntun keputusan nyata organisasi.</a:t>
            </a:r>
          </a:p>
          <a:p>
            <a:pPr>
              <a:spcBef>
                <a:spcPts val="300"/>
              </a:spcBef>
              <a:defRPr sz="950">
                <a:solidFill>
                  <a:srgbClr val="94A3B8"/>
                </a:solidFill>
                <a:latin typeface="Segoe UI"/>
              </a:defRPr>
            </a:pPr>
            <a:r>
              <a:t>Contoh Kasus:</a:t>
            </a:r>
            <a:br/>
            <a:r>
              <a:t>IP tersebut adalah exit-proxy yang digunakan kelompok APT29 untuk kampanye CVE-2024-xxxx pada instansi finansial.</a:t>
            </a:r>
            <a:br/>
            <a:r>
              <a:t>Tindakan Taktis: Terapkan mitigasi virtual patching, putus sesi aktif, dan monitor pergerakan lateral internal.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10728655" cy="12700"/>
          </a:xfrm>
          <a:prstGeom prst="rect">
            <a:avLst/>
          </a:prstGeom>
          <a:solidFill>
            <a:srgbClr val="28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00" b="1">
                <a:solidFill>
                  <a:srgbClr val="38BDF8"/>
                </a:solidFill>
                <a:latin typeface="Segoe UI"/>
              </a:defRPr>
            </a:pPr>
            <a:r>
              <a:t>ARSITEKTUR PENGAMBILAN KEPUTUSAN</a:t>
            </a:r>
          </a:p>
        </p:txBody>
      </p:sp>
      <p:sp>
        <p:nvSpPr>
          <p:cNvPr id="5" name="TextBox 4"/>
          <p:cNvSpPr txBox="1"/>
          <p:nvPr/>
        </p:nvSpPr>
        <p:spPr>
          <a:xfrm>
            <a:off x="8229600" y="320040"/>
            <a:ext cx="3200400" cy="274320"/>
          </a:xfrm>
          <a:prstGeom prst="rect">
            <a:avLst/>
          </a:prstGeom>
          <a:noFill/>
        </p:spPr>
        <p:txBody>
          <a:bodyPr wrap="none">
            <a:spAutoFit/>
          </a:bodyPr>
          <a:lstStyle/>
          <a:p>
            <a:pPr algn="r">
              <a:defRPr sz="850" b="1">
                <a:solidFill>
                  <a:srgbClr val="64748B"/>
                </a:solidFill>
                <a:latin typeface="Segoe UI"/>
              </a:defRPr>
            </a:pPr>
            <a:r>
              <a:t>TLP:CLEAR  //  THREAT INTEL BRIEFING</a:t>
            </a:r>
          </a:p>
        </p:txBody>
      </p:sp>
      <p:sp>
        <p:nvSpPr>
          <p:cNvPr id="6" name="TextBox 5"/>
          <p:cNvSpPr txBox="1"/>
          <p:nvPr/>
        </p:nvSpPr>
        <p:spPr>
          <a:xfrm>
            <a:off x="731520" y="548640"/>
            <a:ext cx="10728655" cy="594360"/>
          </a:xfrm>
          <a:prstGeom prst="rect">
            <a:avLst/>
          </a:prstGeom>
          <a:noFill/>
        </p:spPr>
        <p:txBody>
          <a:bodyPr wrap="square">
            <a:spAutoFit/>
          </a:bodyPr>
          <a:lstStyle/>
          <a:p>
            <a:pPr>
              <a:defRPr sz="2000" b="1">
                <a:solidFill>
                  <a:srgbClr val="F1F5F9"/>
                </a:solidFill>
                <a:latin typeface="Segoe UI"/>
              </a:defRPr>
            </a:pPr>
            <a:r>
              <a:t>Empat Tingkatan CTI: Memetakan Audiens, Cakupan, dan Format Deliverable</a:t>
            </a:r>
          </a:p>
        </p:txBody>
      </p:sp>
      <p:sp>
        <p:nvSpPr>
          <p:cNvPr id="7" name="Rectangle 6"/>
          <p:cNvSpPr/>
          <p:nvPr/>
        </p:nvSpPr>
        <p:spPr>
          <a:xfrm>
            <a:off x="731520" y="1463040"/>
            <a:ext cx="2560320" cy="4846320"/>
          </a:xfrm>
          <a:prstGeom prst="rect">
            <a:avLst/>
          </a:prstGeom>
          <a:solidFill>
            <a:srgbClr val="121826"/>
          </a:solidFill>
          <a:ln w="1270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0200"/>
            <a:ext cx="2286000" cy="4572000"/>
          </a:xfrm>
          <a:prstGeom prst="rect">
            <a:avLst/>
          </a:prstGeom>
          <a:noFill/>
        </p:spPr>
        <p:txBody>
          <a:bodyPr wrap="square">
            <a:spAutoFit/>
          </a:bodyPr>
          <a:lstStyle/>
          <a:p>
            <a:pPr>
              <a:defRPr sz="1300" b="1">
                <a:solidFill>
                  <a:srgbClr val="C084FC"/>
                </a:solidFill>
                <a:latin typeface="Segoe UI"/>
              </a:defRPr>
            </a:pPr>
            <a:r>
              <a:t>STRATEGIC CTI</a:t>
            </a:r>
          </a:p>
          <a:p>
            <a:pPr>
              <a:spcBef>
                <a:spcPts val="200"/>
              </a:spcBef>
              <a:defRPr sz="850" b="1">
                <a:solidFill>
                  <a:srgbClr val="64748B"/>
                </a:solidFill>
                <a:latin typeface="Segoe UI"/>
              </a:defRPr>
            </a:pPr>
            <a:r>
              <a:t>PENGAMBIL KEPUTUSAN EKSEKUTIF</a:t>
            </a:r>
          </a:p>
          <a:p>
            <a:pPr>
              <a:spcBef>
                <a:spcPts val="600"/>
              </a:spcBef>
              <a:defRPr sz="950" b="1">
                <a:solidFill>
                  <a:srgbClr val="F1F5F9"/>
                </a:solidFill>
                <a:latin typeface="Segoe UI"/>
              </a:defRPr>
            </a:pPr>
            <a:r>
              <a:t>Audiens: CISO, Direksi, Dewan Komisaris</a:t>
            </a:r>
          </a:p>
          <a:p>
            <a:pPr>
              <a:spcBef>
                <a:spcPts val="800"/>
              </a:spcBef>
              <a:defRPr sz="950">
                <a:solidFill>
                  <a:srgbClr val="94A3B8"/>
                </a:solidFill>
                <a:latin typeface="Segoe UI"/>
              </a:defRPr>
            </a:pPr>
            <a:r>
              <a:t>Tren risiko jangka panjang, motif geopolitik ancaman, estimasi kerugian finansial, dan prioritas alokasi anggaran belanja keamanan siber.</a:t>
            </a:r>
          </a:p>
          <a:p>
            <a:pPr>
              <a:spcBef>
                <a:spcPts val="1200"/>
              </a:spcBef>
              <a:defRPr sz="900">
                <a:solidFill>
                  <a:srgbClr val="C084FC"/>
                </a:solidFill>
                <a:latin typeface="Segoe UI"/>
              </a:defRPr>
            </a:pPr>
            <a:r>
              <a:t>Format Output:</a:t>
            </a:r>
            <a:br/>
            <a:r>
              <a:t>Executive Summary 2 Halaman, Presentasi Risiko Dewan Direksi, Threat Landscape Report tahunan.</a:t>
            </a:r>
          </a:p>
        </p:txBody>
      </p:sp>
      <p:sp>
        <p:nvSpPr>
          <p:cNvPr id="9" name="Rectangle 8"/>
          <p:cNvSpPr/>
          <p:nvPr/>
        </p:nvSpPr>
        <p:spPr>
          <a:xfrm>
            <a:off x="3429000" y="1463040"/>
            <a:ext cx="2560320" cy="4846320"/>
          </a:xfrm>
          <a:prstGeom prst="rect">
            <a:avLst/>
          </a:prstGeom>
          <a:solidFill>
            <a:srgbClr val="121826"/>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1600200"/>
            <a:ext cx="2286000" cy="4572000"/>
          </a:xfrm>
          <a:prstGeom prst="rect">
            <a:avLst/>
          </a:prstGeom>
          <a:noFill/>
        </p:spPr>
        <p:txBody>
          <a:bodyPr wrap="square">
            <a:spAutoFit/>
          </a:bodyPr>
          <a:lstStyle/>
          <a:p>
            <a:pPr>
              <a:defRPr sz="1300" b="1">
                <a:solidFill>
                  <a:srgbClr val="60A5FA"/>
                </a:solidFill>
                <a:latin typeface="Segoe UI"/>
              </a:defRPr>
            </a:pPr>
            <a:r>
              <a:t>OPERATIONAL CTI</a:t>
            </a:r>
          </a:p>
          <a:p>
            <a:pPr>
              <a:spcBef>
                <a:spcPts val="200"/>
              </a:spcBef>
              <a:defRPr sz="850" b="1">
                <a:solidFill>
                  <a:srgbClr val="64748B"/>
                </a:solidFill>
                <a:latin typeface="Segoe UI"/>
              </a:defRPr>
            </a:pPr>
            <a:r>
              <a:t>MANAJEMEN OPERASI KEAMANAN</a:t>
            </a:r>
          </a:p>
          <a:p>
            <a:pPr>
              <a:spcBef>
                <a:spcPts val="600"/>
              </a:spcBef>
              <a:defRPr sz="950" b="1">
                <a:solidFill>
                  <a:srgbClr val="F1F5F9"/>
                </a:solidFill>
                <a:latin typeface="Segoe UI"/>
              </a:defRPr>
            </a:pPr>
            <a:r>
              <a:t>Audiens: SOC Manager, Lead Threat Hunter, DFIR</a:t>
            </a:r>
          </a:p>
          <a:p>
            <a:pPr>
              <a:spcBef>
                <a:spcPts val="800"/>
              </a:spcBef>
              <a:defRPr sz="950">
                <a:solidFill>
                  <a:srgbClr val="94A3B8"/>
                </a:solidFill>
                <a:latin typeface="Segoe UI"/>
              </a:defRPr>
            </a:pPr>
            <a:r>
              <a:t>Profil spesifik kelompok penyerang (Threat Actor Dossier), kampanye penyerangan aktif, kapabilitas teknis lawan, dan jendela waktu serangan.</a:t>
            </a:r>
          </a:p>
          <a:p>
            <a:pPr>
              <a:spcBef>
                <a:spcPts val="1200"/>
              </a:spcBef>
              <a:defRPr sz="900">
                <a:solidFill>
                  <a:srgbClr val="60A5FA"/>
                </a:solidFill>
                <a:latin typeface="Segoe UI"/>
              </a:defRPr>
            </a:pPr>
            <a:r>
              <a:t>Format Output:</a:t>
            </a:r>
            <a:br/>
            <a:r>
              <a:t>Threat Actor Dossier, Analisis Kampanye, Profil Taktis Grup Ransomware / APT.</a:t>
            </a:r>
          </a:p>
        </p:txBody>
      </p:sp>
      <p:sp>
        <p:nvSpPr>
          <p:cNvPr id="11" name="Rectangle 10"/>
          <p:cNvSpPr/>
          <p:nvPr/>
        </p:nvSpPr>
        <p:spPr>
          <a:xfrm>
            <a:off x="6126480" y="1463040"/>
            <a:ext cx="2560320" cy="4846320"/>
          </a:xfrm>
          <a:prstGeom prst="rect">
            <a:avLst/>
          </a:prstGeom>
          <a:solidFill>
            <a:srgbClr val="121826"/>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600200"/>
            <a:ext cx="2286000" cy="4572000"/>
          </a:xfrm>
          <a:prstGeom prst="rect">
            <a:avLst/>
          </a:prstGeom>
          <a:noFill/>
        </p:spPr>
        <p:txBody>
          <a:bodyPr wrap="square">
            <a:spAutoFit/>
          </a:bodyPr>
          <a:lstStyle/>
          <a:p>
            <a:pPr>
              <a:defRPr sz="1300" b="1">
                <a:solidFill>
                  <a:srgbClr val="FBBF24"/>
                </a:solidFill>
                <a:latin typeface="Segoe UI"/>
              </a:defRPr>
            </a:pPr>
            <a:r>
              <a:t>TACTICAL CTI</a:t>
            </a:r>
          </a:p>
          <a:p>
            <a:pPr>
              <a:spcBef>
                <a:spcPts val="200"/>
              </a:spcBef>
              <a:defRPr sz="850" b="1">
                <a:solidFill>
                  <a:srgbClr val="64748B"/>
                </a:solidFill>
                <a:latin typeface="Segoe UI"/>
              </a:defRPr>
            </a:pPr>
            <a:r>
              <a:t>ANALIS FORENSIK &amp; REKAYASA DETEKSI</a:t>
            </a:r>
          </a:p>
          <a:p>
            <a:pPr>
              <a:spcBef>
                <a:spcPts val="600"/>
              </a:spcBef>
              <a:defRPr sz="950" b="1">
                <a:solidFill>
                  <a:srgbClr val="F1F5F9"/>
                </a:solidFill>
                <a:latin typeface="Segoe UI"/>
              </a:defRPr>
            </a:pPr>
            <a:r>
              <a:t>Audiens: Detection Engineers, SOC L2/L3, Malware Analyst</a:t>
            </a:r>
          </a:p>
          <a:p>
            <a:pPr>
              <a:spcBef>
                <a:spcPts val="800"/>
              </a:spcBef>
              <a:defRPr sz="950">
                <a:solidFill>
                  <a:srgbClr val="94A3B8"/>
                </a:solidFill>
                <a:latin typeface="Segoe UI"/>
              </a:defRPr>
            </a:pPr>
            <a:r>
              <a:t>Taktik, Teknik, dan Prosedur (TTP) musuh berdasarkan framework MITRE ATT&amp;CK. Menjawab cara musuh menembus pertahanan dan bergerak di dalam sistem.</a:t>
            </a:r>
          </a:p>
          <a:p>
            <a:pPr>
              <a:spcBef>
                <a:spcPts val="1200"/>
              </a:spcBef>
              <a:defRPr sz="900">
                <a:solidFill>
                  <a:srgbClr val="FBBF24"/>
                </a:solidFill>
                <a:latin typeface="Segoe UI"/>
              </a:defRPr>
            </a:pPr>
            <a:r>
              <a:t>Format Output:</a:t>
            </a:r>
            <a:br/>
            <a:r>
              <a:t>YARA Rules, Aturan Deteksi Sigma, Pemetaan MITRE ATT&amp;CK Matrix, Hunting Playbooks.</a:t>
            </a:r>
          </a:p>
        </p:txBody>
      </p:sp>
      <p:sp>
        <p:nvSpPr>
          <p:cNvPr id="13" name="Rectangle 12"/>
          <p:cNvSpPr/>
          <p:nvPr/>
        </p:nvSpPr>
        <p:spPr>
          <a:xfrm>
            <a:off x="8823960" y="1463040"/>
            <a:ext cx="2560320" cy="4846320"/>
          </a:xfrm>
          <a:prstGeom prst="rect">
            <a:avLst/>
          </a:prstGeom>
          <a:solidFill>
            <a:srgbClr val="1218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1600200"/>
            <a:ext cx="2286000" cy="4572000"/>
          </a:xfrm>
          <a:prstGeom prst="rect">
            <a:avLst/>
          </a:prstGeom>
          <a:noFill/>
        </p:spPr>
        <p:txBody>
          <a:bodyPr wrap="square">
            <a:spAutoFit/>
          </a:bodyPr>
          <a:lstStyle/>
          <a:p>
            <a:pPr>
              <a:defRPr sz="1300" b="1">
                <a:solidFill>
                  <a:srgbClr val="34D399"/>
                </a:solidFill>
                <a:latin typeface="Segoe UI"/>
              </a:defRPr>
            </a:pPr>
            <a:r>
              <a:t>TECHNICAL CTI</a:t>
            </a:r>
          </a:p>
          <a:p>
            <a:pPr>
              <a:spcBef>
                <a:spcPts val="200"/>
              </a:spcBef>
              <a:defRPr sz="850" b="1">
                <a:solidFill>
                  <a:srgbClr val="64748B"/>
                </a:solidFill>
                <a:latin typeface="Segoe UI"/>
              </a:defRPr>
            </a:pPr>
            <a:r>
              <a:t>GARIS DEPAN &amp; PERIMETER KEAMANAN</a:t>
            </a:r>
          </a:p>
          <a:p>
            <a:pPr>
              <a:spcBef>
                <a:spcPts val="600"/>
              </a:spcBef>
              <a:defRPr sz="950" b="1">
                <a:solidFill>
                  <a:srgbClr val="F1F5F9"/>
                </a:solidFill>
                <a:latin typeface="Segoe UI"/>
              </a:defRPr>
            </a:pPr>
            <a:r>
              <a:t>Audiens: SOC L1, Network Engineer, Firewall Admin</a:t>
            </a:r>
          </a:p>
          <a:p>
            <a:pPr>
              <a:spcBef>
                <a:spcPts val="800"/>
              </a:spcBef>
              <a:defRPr sz="950">
                <a:solidFill>
                  <a:srgbClr val="94A3B8"/>
                </a:solidFill>
                <a:latin typeface="Segoe UI"/>
              </a:defRPr>
            </a:pPr>
            <a:r>
              <a:t>Indikator kompromi teknis (IoC) yang berumur pendek: nilai hash berkas malware, alamat IP command-and-control, domain phishing, dan string URL jahat.</a:t>
            </a:r>
          </a:p>
          <a:p>
            <a:pPr>
              <a:spcBef>
                <a:spcPts val="1200"/>
              </a:spcBef>
              <a:defRPr sz="900">
                <a:solidFill>
                  <a:srgbClr val="34D399"/>
                </a:solidFill>
                <a:latin typeface="Segoe UI"/>
              </a:defRPr>
            </a:pPr>
            <a:r>
              <a:t>Format Output:</a:t>
            </a:r>
            <a:br/>
            <a:r>
              <a:t>Feed STIX/TAXII, IP Blacklist Firewall, Hash Blocklist EDR, DNS Sinkhole entries.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10728655" cy="12700"/>
          </a:xfrm>
          <a:prstGeom prst="rect">
            <a:avLst/>
          </a:prstGeom>
          <a:solidFill>
            <a:srgbClr val="28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00" b="1">
                <a:solidFill>
                  <a:srgbClr val="38BDF8"/>
                </a:solidFill>
                <a:latin typeface="Segoe UI"/>
              </a:defRPr>
            </a:pPr>
            <a:r>
              <a:t>METODOLOGI OPERASIONAL</a:t>
            </a:r>
          </a:p>
        </p:txBody>
      </p:sp>
      <p:sp>
        <p:nvSpPr>
          <p:cNvPr id="5" name="TextBox 4"/>
          <p:cNvSpPr txBox="1"/>
          <p:nvPr/>
        </p:nvSpPr>
        <p:spPr>
          <a:xfrm>
            <a:off x="8229600" y="320040"/>
            <a:ext cx="3200400" cy="274320"/>
          </a:xfrm>
          <a:prstGeom prst="rect">
            <a:avLst/>
          </a:prstGeom>
          <a:noFill/>
        </p:spPr>
        <p:txBody>
          <a:bodyPr wrap="none">
            <a:spAutoFit/>
          </a:bodyPr>
          <a:lstStyle/>
          <a:p>
            <a:pPr algn="r">
              <a:defRPr sz="850" b="1">
                <a:solidFill>
                  <a:srgbClr val="64748B"/>
                </a:solidFill>
                <a:latin typeface="Segoe UI"/>
              </a:defRPr>
            </a:pPr>
            <a:r>
              <a:t>TLP:CLEAR  //  THREAT INTEL BRIEFING</a:t>
            </a:r>
          </a:p>
        </p:txBody>
      </p:sp>
      <p:sp>
        <p:nvSpPr>
          <p:cNvPr id="6" name="TextBox 5"/>
          <p:cNvSpPr txBox="1"/>
          <p:nvPr/>
        </p:nvSpPr>
        <p:spPr>
          <a:xfrm>
            <a:off x="731520" y="548640"/>
            <a:ext cx="10728655" cy="594360"/>
          </a:xfrm>
          <a:prstGeom prst="rect">
            <a:avLst/>
          </a:prstGeom>
          <a:noFill/>
        </p:spPr>
        <p:txBody>
          <a:bodyPr wrap="square">
            <a:spAutoFit/>
          </a:bodyPr>
          <a:lstStyle/>
          <a:p>
            <a:pPr>
              <a:defRPr sz="2000" b="1">
                <a:solidFill>
                  <a:srgbClr val="F1F5F9"/>
                </a:solidFill>
                <a:latin typeface="Segoe UI"/>
              </a:defRPr>
            </a:pPr>
            <a:r>
              <a:t>Siklus Hidup Intelijen Ancaman: Dari Penetapan Prioritas Hingga Evaluasi Timbal-Balik</a:t>
            </a:r>
          </a:p>
        </p:txBody>
      </p:sp>
      <p:sp>
        <p:nvSpPr>
          <p:cNvPr id="7" name="Rectangle 6"/>
          <p:cNvSpPr/>
          <p:nvPr/>
        </p:nvSpPr>
        <p:spPr>
          <a:xfrm>
            <a:off x="731520" y="1463040"/>
            <a:ext cx="3474720" cy="1920240"/>
          </a:xfrm>
          <a:prstGeom prst="rect">
            <a:avLst/>
          </a:prstGeom>
          <a:solidFill>
            <a:srgbClr val="121826"/>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72768"/>
            <a:ext cx="3200400" cy="1691640"/>
          </a:xfrm>
          <a:prstGeom prst="rect">
            <a:avLst/>
          </a:prstGeom>
          <a:noFill/>
        </p:spPr>
        <p:txBody>
          <a:bodyPr wrap="square">
            <a:spAutoFit/>
          </a:bodyPr>
          <a:lstStyle/>
          <a:p>
            <a:pPr>
              <a:defRPr sz="1100" b="1">
                <a:solidFill>
                  <a:srgbClr val="38BDF8"/>
                </a:solidFill>
                <a:latin typeface="Segoe UI"/>
              </a:defRPr>
            </a:pPr>
            <a:r>
              <a:t>01. PLANNING &amp; DIRECTION</a:t>
            </a:r>
          </a:p>
          <a:p>
            <a:pPr>
              <a:spcBef>
                <a:spcPts val="200"/>
              </a:spcBef>
              <a:defRPr sz="1000" b="1">
                <a:solidFill>
                  <a:srgbClr val="F1F5F9"/>
                </a:solidFill>
                <a:latin typeface="Segoe UI"/>
              </a:defRPr>
            </a:pPr>
            <a:r>
              <a:t>Menetapkan Kebutuhan (PIR)</a:t>
            </a:r>
          </a:p>
          <a:p>
            <a:pPr>
              <a:spcBef>
                <a:spcPts val="500"/>
              </a:spcBef>
              <a:defRPr sz="919">
                <a:solidFill>
                  <a:srgbClr val="94A3B8"/>
                </a:solidFill>
                <a:latin typeface="Segoe UI"/>
              </a:defRPr>
            </a:pPr>
            <a:r>
              <a:t>Mendefinisikan Priority Intelligence Requirements (PIR): Aset apa yang paling berharga bagi bisnis? Sistem mana yang paling rawan? Mencegah tim mengumpulkan data yang tidak relevan.</a:t>
            </a:r>
          </a:p>
        </p:txBody>
      </p:sp>
      <p:sp>
        <p:nvSpPr>
          <p:cNvPr id="9" name="Rectangle 8"/>
          <p:cNvSpPr/>
          <p:nvPr/>
        </p:nvSpPr>
        <p:spPr>
          <a:xfrm>
            <a:off x="4343400" y="1463040"/>
            <a:ext cx="3474720" cy="1920240"/>
          </a:xfrm>
          <a:prstGeom prst="rect">
            <a:avLst/>
          </a:prstGeom>
          <a:solidFill>
            <a:srgbClr val="121826"/>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572768"/>
            <a:ext cx="3200400" cy="1691640"/>
          </a:xfrm>
          <a:prstGeom prst="rect">
            <a:avLst/>
          </a:prstGeom>
          <a:noFill/>
        </p:spPr>
        <p:txBody>
          <a:bodyPr wrap="square">
            <a:spAutoFit/>
          </a:bodyPr>
          <a:lstStyle/>
          <a:p>
            <a:pPr>
              <a:defRPr sz="1100" b="1">
                <a:solidFill>
                  <a:srgbClr val="38BDF8"/>
                </a:solidFill>
                <a:latin typeface="Segoe UI"/>
              </a:defRPr>
            </a:pPr>
            <a:r>
              <a:t>02. COLLECTION</a:t>
            </a:r>
          </a:p>
          <a:p>
            <a:pPr>
              <a:spcBef>
                <a:spcPts val="200"/>
              </a:spcBef>
              <a:defRPr sz="1000" b="1">
                <a:solidFill>
                  <a:srgbClr val="F1F5F9"/>
                </a:solidFill>
                <a:latin typeface="Segoe UI"/>
              </a:defRPr>
            </a:pPr>
            <a:r>
              <a:t>Pengumpulan Sumber Data</a:t>
            </a:r>
          </a:p>
          <a:p>
            <a:pPr>
              <a:spcBef>
                <a:spcPts val="500"/>
              </a:spcBef>
              <a:defRPr sz="919">
                <a:solidFill>
                  <a:srgbClr val="94A3B8"/>
                </a:solidFill>
                <a:latin typeface="Segoe UI"/>
              </a:defRPr>
            </a:pPr>
            <a:r>
              <a:t>Menarik telemetri dari sumber internal (sensor jaringan, honeypot, event log SIEM) dan sumber eksternal (OSINT, dark web telemetry, feed komersial, laporan ISAC).</a:t>
            </a:r>
          </a:p>
        </p:txBody>
      </p:sp>
      <p:sp>
        <p:nvSpPr>
          <p:cNvPr id="11" name="Rectangle 10"/>
          <p:cNvSpPr/>
          <p:nvPr/>
        </p:nvSpPr>
        <p:spPr>
          <a:xfrm>
            <a:off x="7955279" y="1463040"/>
            <a:ext cx="3474720" cy="1920240"/>
          </a:xfrm>
          <a:prstGeom prst="rect">
            <a:avLst/>
          </a:prstGeom>
          <a:solidFill>
            <a:srgbClr val="121826"/>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39" y="1572768"/>
            <a:ext cx="3200400" cy="1691640"/>
          </a:xfrm>
          <a:prstGeom prst="rect">
            <a:avLst/>
          </a:prstGeom>
          <a:noFill/>
        </p:spPr>
        <p:txBody>
          <a:bodyPr wrap="square">
            <a:spAutoFit/>
          </a:bodyPr>
          <a:lstStyle/>
          <a:p>
            <a:pPr>
              <a:defRPr sz="1100" b="1">
                <a:solidFill>
                  <a:srgbClr val="38BDF8"/>
                </a:solidFill>
                <a:latin typeface="Segoe UI"/>
              </a:defRPr>
            </a:pPr>
            <a:r>
              <a:t>03. PROCESSING</a:t>
            </a:r>
          </a:p>
          <a:p>
            <a:pPr>
              <a:spcBef>
                <a:spcPts val="200"/>
              </a:spcBef>
              <a:defRPr sz="1000" b="1">
                <a:solidFill>
                  <a:srgbClr val="F1F5F9"/>
                </a:solidFill>
                <a:latin typeface="Segoe UI"/>
              </a:defRPr>
            </a:pPr>
            <a:r>
              <a:t>Normalisasi &amp; Ekstraksi</a:t>
            </a:r>
          </a:p>
          <a:p>
            <a:pPr>
              <a:spcBef>
                <a:spcPts val="500"/>
              </a:spcBef>
              <a:defRPr sz="919">
                <a:solidFill>
                  <a:srgbClr val="94A3B8"/>
                </a:solidFill>
                <a:latin typeface="Segoe UI"/>
              </a:defRPr>
            </a:pPr>
            <a:r>
              <a:t>Mengubah data mentah menjadi format siap analisis: de-obfuskasi skrip, ekstraksi metadata berkas, lookup rDNS, dan penghitungan checksum hash kriptografis.</a:t>
            </a:r>
          </a:p>
        </p:txBody>
      </p:sp>
      <p:sp>
        <p:nvSpPr>
          <p:cNvPr id="13" name="Rectangle 12"/>
          <p:cNvSpPr/>
          <p:nvPr/>
        </p:nvSpPr>
        <p:spPr>
          <a:xfrm>
            <a:off x="731520" y="3566160"/>
            <a:ext cx="3474720" cy="1920240"/>
          </a:xfrm>
          <a:prstGeom prst="rect">
            <a:avLst/>
          </a:prstGeom>
          <a:solidFill>
            <a:srgbClr val="121826"/>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675888"/>
            <a:ext cx="3200400" cy="1691640"/>
          </a:xfrm>
          <a:prstGeom prst="rect">
            <a:avLst/>
          </a:prstGeom>
          <a:noFill/>
        </p:spPr>
        <p:txBody>
          <a:bodyPr wrap="square">
            <a:spAutoFit/>
          </a:bodyPr>
          <a:lstStyle/>
          <a:p>
            <a:pPr>
              <a:defRPr sz="1100" b="1">
                <a:solidFill>
                  <a:srgbClr val="38BDF8"/>
                </a:solidFill>
                <a:latin typeface="Segoe UI"/>
              </a:defRPr>
            </a:pPr>
            <a:r>
              <a:t>04. ANALYSIS &amp; PRODUCTION</a:t>
            </a:r>
          </a:p>
          <a:p>
            <a:pPr>
              <a:spcBef>
                <a:spcPts val="200"/>
              </a:spcBef>
              <a:defRPr sz="1000" b="1">
                <a:solidFill>
                  <a:srgbClr val="F1F5F9"/>
                </a:solidFill>
                <a:latin typeface="Segoe UI"/>
              </a:defRPr>
            </a:pPr>
            <a:r>
              <a:t>Sintesis &amp; Kontekstualisasi</a:t>
            </a:r>
          </a:p>
          <a:p>
            <a:pPr>
              <a:spcBef>
                <a:spcPts val="500"/>
              </a:spcBef>
              <a:defRPr sz="919">
                <a:solidFill>
                  <a:srgbClr val="94A3B8"/>
                </a:solidFill>
                <a:latin typeface="Segoe UI"/>
              </a:defRPr>
            </a:pPr>
            <a:r>
              <a:t>Menguji hipotesis ancaman: menghubungkan anomali koneksi dengan taktik penyerang, menilai tingkat kredibilitas sumber, dan menyusun laporan berbasis bukti.</a:t>
            </a:r>
          </a:p>
        </p:txBody>
      </p:sp>
      <p:sp>
        <p:nvSpPr>
          <p:cNvPr id="15" name="Rectangle 14"/>
          <p:cNvSpPr/>
          <p:nvPr/>
        </p:nvSpPr>
        <p:spPr>
          <a:xfrm>
            <a:off x="4343400" y="3566160"/>
            <a:ext cx="3474720" cy="1920240"/>
          </a:xfrm>
          <a:prstGeom prst="rect">
            <a:avLst/>
          </a:prstGeom>
          <a:solidFill>
            <a:srgbClr val="121826"/>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3675888"/>
            <a:ext cx="3200400" cy="1691640"/>
          </a:xfrm>
          <a:prstGeom prst="rect">
            <a:avLst/>
          </a:prstGeom>
          <a:noFill/>
        </p:spPr>
        <p:txBody>
          <a:bodyPr wrap="square">
            <a:spAutoFit/>
          </a:bodyPr>
          <a:lstStyle/>
          <a:p>
            <a:pPr>
              <a:defRPr sz="1100" b="1">
                <a:solidFill>
                  <a:srgbClr val="38BDF8"/>
                </a:solidFill>
                <a:latin typeface="Segoe UI"/>
              </a:defRPr>
            </a:pPr>
            <a:r>
              <a:t>05. DISSEMINATION</a:t>
            </a:r>
          </a:p>
          <a:p>
            <a:pPr>
              <a:spcBef>
                <a:spcPts val="200"/>
              </a:spcBef>
              <a:defRPr sz="1000" b="1">
                <a:solidFill>
                  <a:srgbClr val="F1F5F9"/>
                </a:solidFill>
                <a:latin typeface="Segoe UI"/>
              </a:defRPr>
            </a:pPr>
            <a:r>
              <a:t>Distribusi Tepat Sasaran</a:t>
            </a:r>
          </a:p>
          <a:p>
            <a:pPr>
              <a:spcBef>
                <a:spcPts val="500"/>
              </a:spcBef>
              <a:defRPr sz="919">
                <a:solidFill>
                  <a:srgbClr val="94A3B8"/>
                </a:solidFill>
                <a:latin typeface="Segoe UI"/>
              </a:defRPr>
            </a:pPr>
            <a:r>
              <a:t>Menyalurkan hasil intelijen ke pihak yang tepat: ringkasan risiko ke pimpinan, peringatan taktis ke analis SOC L2, dan aturan IoC otomatis ke firewall/EDR.</a:t>
            </a:r>
          </a:p>
        </p:txBody>
      </p:sp>
      <p:sp>
        <p:nvSpPr>
          <p:cNvPr id="17" name="Rectangle 16"/>
          <p:cNvSpPr/>
          <p:nvPr/>
        </p:nvSpPr>
        <p:spPr>
          <a:xfrm>
            <a:off x="7955279" y="3566160"/>
            <a:ext cx="3474720" cy="1920240"/>
          </a:xfrm>
          <a:prstGeom prst="rect">
            <a:avLst/>
          </a:prstGeom>
          <a:solidFill>
            <a:srgbClr val="121826"/>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39" y="3675888"/>
            <a:ext cx="3200400" cy="1691640"/>
          </a:xfrm>
          <a:prstGeom prst="rect">
            <a:avLst/>
          </a:prstGeom>
          <a:noFill/>
        </p:spPr>
        <p:txBody>
          <a:bodyPr wrap="square">
            <a:spAutoFit/>
          </a:bodyPr>
          <a:lstStyle/>
          <a:p>
            <a:pPr>
              <a:defRPr sz="1100" b="1">
                <a:solidFill>
                  <a:srgbClr val="38BDF8"/>
                </a:solidFill>
                <a:latin typeface="Segoe UI"/>
              </a:defRPr>
            </a:pPr>
            <a:r>
              <a:t>06. FEEDBACK &amp; REVIEW</a:t>
            </a:r>
          </a:p>
          <a:p>
            <a:pPr>
              <a:spcBef>
                <a:spcPts val="200"/>
              </a:spcBef>
              <a:defRPr sz="1000" b="1">
                <a:solidFill>
                  <a:srgbClr val="F1F5F9"/>
                </a:solidFill>
                <a:latin typeface="Segoe UI"/>
              </a:defRPr>
            </a:pPr>
            <a:r>
              <a:t>Evaluasi &amp; Kalibrasi Ulang</a:t>
            </a:r>
          </a:p>
          <a:p>
            <a:pPr>
              <a:spcBef>
                <a:spcPts val="500"/>
              </a:spcBef>
              <a:defRPr sz="919">
                <a:solidFill>
                  <a:srgbClr val="94A3B8"/>
                </a:solidFill>
                <a:latin typeface="Segoe UI"/>
              </a:defRPr>
            </a:pPr>
            <a:r>
              <a:t>Menilai efektivitas tindakan: Apakah intelijen ini berhasil memblokir serangan nyata? Apakah ada celah deteksi yang terlewat? Hasil evaluasi menjadi input bagi siklus berikutnya.</a:t>
            </a:r>
          </a:p>
        </p:txBody>
      </p:sp>
      <p:sp>
        <p:nvSpPr>
          <p:cNvPr id="19" name="Rectangle 18"/>
          <p:cNvSpPr/>
          <p:nvPr/>
        </p:nvSpPr>
        <p:spPr>
          <a:xfrm>
            <a:off x="731520" y="5623560"/>
            <a:ext cx="10698480" cy="685800"/>
          </a:xfrm>
          <a:prstGeom prst="rect">
            <a:avLst/>
          </a:prstGeom>
          <a:solidFill>
            <a:srgbClr val="182032"/>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669280"/>
            <a:ext cx="10332720" cy="594360"/>
          </a:xfrm>
          <a:prstGeom prst="rect">
            <a:avLst/>
          </a:prstGeom>
          <a:noFill/>
        </p:spPr>
        <p:txBody>
          <a:bodyPr wrap="none">
            <a:spAutoFit/>
          </a:bodyPr>
          <a:lstStyle/>
          <a:p>
            <a:pPr>
              <a:defRPr sz="900" b="1">
                <a:solidFill>
                  <a:srgbClr val="FBBF24"/>
                </a:solidFill>
                <a:latin typeface="Segoe UI"/>
              </a:defRPr>
            </a:pPr>
            <a:r>
              <a:t>CATATAN PRAKTISI: KESALAHAN TERBESAR PADA CTI IMPLEMENTASI</a:t>
            </a:r>
          </a:p>
          <a:p>
            <a:pPr>
              <a:defRPr sz="950">
                <a:solidFill>
                  <a:srgbClr val="F1F5F9"/>
                </a:solidFill>
                <a:latin typeface="Segoe UI"/>
              </a:defRPr>
            </a:pPr>
            <a:r>
              <a:t>Lebih dari 75% organisasi langsung melompat ke tahap Koleksi (membeli feed komersial mahal) tanpa memiliki PIR yang jelas pada tahap Planning. Akibatnya, tim analis tenggelam dalam lautan data tanpa relevansi bisnis.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10728655" cy="12700"/>
          </a:xfrm>
          <a:prstGeom prst="rect">
            <a:avLst/>
          </a:prstGeom>
          <a:solidFill>
            <a:srgbClr val="28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00" b="1">
                <a:solidFill>
                  <a:srgbClr val="38BDF8"/>
                </a:solidFill>
                <a:latin typeface="Segoe UI"/>
              </a:defRPr>
            </a:pPr>
            <a:r>
              <a:t>MODEL ANALISIS ANCAMAN</a:t>
            </a:r>
          </a:p>
        </p:txBody>
      </p:sp>
      <p:sp>
        <p:nvSpPr>
          <p:cNvPr id="5" name="TextBox 4"/>
          <p:cNvSpPr txBox="1"/>
          <p:nvPr/>
        </p:nvSpPr>
        <p:spPr>
          <a:xfrm>
            <a:off x="8229600" y="320040"/>
            <a:ext cx="3200400" cy="274320"/>
          </a:xfrm>
          <a:prstGeom prst="rect">
            <a:avLst/>
          </a:prstGeom>
          <a:noFill/>
        </p:spPr>
        <p:txBody>
          <a:bodyPr wrap="none">
            <a:spAutoFit/>
          </a:bodyPr>
          <a:lstStyle/>
          <a:p>
            <a:pPr algn="r">
              <a:defRPr sz="850" b="1">
                <a:solidFill>
                  <a:srgbClr val="64748B"/>
                </a:solidFill>
                <a:latin typeface="Segoe UI"/>
              </a:defRPr>
            </a:pPr>
            <a:r>
              <a:t>TLP:CLEAR  //  THREAT INTEL BRIEFING</a:t>
            </a:r>
          </a:p>
        </p:txBody>
      </p:sp>
      <p:sp>
        <p:nvSpPr>
          <p:cNvPr id="6" name="TextBox 5"/>
          <p:cNvSpPr txBox="1"/>
          <p:nvPr/>
        </p:nvSpPr>
        <p:spPr>
          <a:xfrm>
            <a:off x="731520" y="548640"/>
            <a:ext cx="10728655" cy="594360"/>
          </a:xfrm>
          <a:prstGeom prst="rect">
            <a:avLst/>
          </a:prstGeom>
          <a:noFill/>
        </p:spPr>
        <p:txBody>
          <a:bodyPr wrap="square">
            <a:spAutoFit/>
          </a:bodyPr>
          <a:lstStyle/>
          <a:p>
            <a:pPr>
              <a:defRPr sz="2000" b="1">
                <a:solidFill>
                  <a:srgbClr val="F1F5F9"/>
                </a:solidFill>
                <a:latin typeface="Segoe UI"/>
              </a:defRPr>
            </a:pPr>
            <a:r>
              <a:t>The Diamond Model: Memetakan Hubungan Struktural dalam Analisis Intrusi</a:t>
            </a:r>
          </a:p>
        </p:txBody>
      </p:sp>
      <p:sp>
        <p:nvSpPr>
          <p:cNvPr id="7" name="Rectangle 6"/>
          <p:cNvSpPr/>
          <p:nvPr/>
        </p:nvSpPr>
        <p:spPr>
          <a:xfrm>
            <a:off x="4297680" y="2651760"/>
            <a:ext cx="3566160" cy="1645920"/>
          </a:xfrm>
          <a:prstGeom prst="rect">
            <a:avLst/>
          </a:prstGeom>
          <a:solidFill>
            <a:srgbClr val="182032"/>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2743200"/>
            <a:ext cx="3383280" cy="1463040"/>
          </a:xfrm>
          <a:prstGeom prst="rect">
            <a:avLst/>
          </a:prstGeom>
          <a:noFill/>
        </p:spPr>
        <p:txBody>
          <a:bodyPr wrap="square">
            <a:spAutoFit/>
          </a:bodyPr>
          <a:lstStyle/>
          <a:p>
            <a:pPr algn="ctr">
              <a:defRPr sz="1000" b="1">
                <a:solidFill>
                  <a:srgbClr val="38BDF8"/>
                </a:solidFill>
                <a:latin typeface="Segoe UI"/>
              </a:defRPr>
            </a:pPr>
            <a:r>
              <a:t>AKSIOMA DASAR DIAMOND MODEL</a:t>
            </a:r>
          </a:p>
          <a:p>
            <a:pPr algn="ctr">
              <a:spcBef>
                <a:spcPts val="400"/>
              </a:spcBef>
              <a:defRPr sz="950">
                <a:solidFill>
                  <a:srgbClr val="F1F5F9"/>
                </a:solidFill>
                <a:latin typeface="Segoe UI"/>
              </a:defRPr>
            </a:pPr>
            <a:r>
              <a:t>"Setiap peristiwa intrusi ditandai oleh Pelaku (Adversary) yang mengerahkan Senjata/Alat (Capability) melalui Saluran (Infrastructure) terhadap sebuah Sasaran (Victim)."</a:t>
            </a:r>
          </a:p>
        </p:txBody>
      </p:sp>
      <p:sp>
        <p:nvSpPr>
          <p:cNvPr id="9" name="Rectangle 8"/>
          <p:cNvSpPr/>
          <p:nvPr/>
        </p:nvSpPr>
        <p:spPr>
          <a:xfrm>
            <a:off x="4297680" y="1371600"/>
            <a:ext cx="3566160" cy="1188720"/>
          </a:xfrm>
          <a:prstGeom prst="rect">
            <a:avLst/>
          </a:prstGeom>
          <a:solidFill>
            <a:srgbClr val="121826"/>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07408" y="1444752"/>
            <a:ext cx="3346704" cy="1042416"/>
          </a:xfrm>
          <a:prstGeom prst="rect">
            <a:avLst/>
          </a:prstGeom>
          <a:noFill/>
        </p:spPr>
        <p:txBody>
          <a:bodyPr wrap="square">
            <a:spAutoFit/>
          </a:bodyPr>
          <a:lstStyle/>
          <a:p>
            <a:pPr>
              <a:defRPr sz="1100" b="1">
                <a:solidFill>
                  <a:srgbClr val="F87171"/>
                </a:solidFill>
                <a:latin typeface="Segoe UI"/>
              </a:defRPr>
            </a:pPr>
            <a:r>
              <a:t>ADVERSARY (PELAKU)</a:t>
            </a:r>
          </a:p>
          <a:p>
            <a:pPr>
              <a:spcBef>
                <a:spcPts val="100"/>
              </a:spcBef>
              <a:defRPr sz="900">
                <a:solidFill>
                  <a:srgbClr val="F1F5F9"/>
                </a:solidFill>
                <a:latin typeface="Segoe UI"/>
              </a:defRPr>
            </a:pPr>
            <a:r>
              <a:t>Identitas atau organisasi di balik serangan.</a:t>
            </a:r>
          </a:p>
          <a:p>
            <a:pPr>
              <a:spcBef>
                <a:spcPts val="300"/>
              </a:spcBef>
              <a:defRPr sz="850">
                <a:solidFill>
                  <a:srgbClr val="94A3B8"/>
                </a:solidFill>
                <a:latin typeface="Segoe UI"/>
              </a:defRPr>
            </a:pPr>
            <a:r>
              <a:t>• Meneliti motivasi: spionase, finansial, reputasi</a:t>
            </a:r>
            <a:br/>
            <a:r>
              <a:t>• Mengidentifikasi operator versus sponsor pendana</a:t>
            </a:r>
            <a:br/>
            <a:r>
              <a:t>• Melacak kebiasaan jam operasional penyerang</a:t>
            </a:r>
          </a:p>
        </p:txBody>
      </p:sp>
      <p:sp>
        <p:nvSpPr>
          <p:cNvPr id="11" name="Rectangle 10"/>
          <p:cNvSpPr/>
          <p:nvPr/>
        </p:nvSpPr>
        <p:spPr>
          <a:xfrm>
            <a:off x="731520" y="2834640"/>
            <a:ext cx="3383280" cy="1280160"/>
          </a:xfrm>
          <a:prstGeom prst="rect">
            <a:avLst/>
          </a:prstGeom>
          <a:solidFill>
            <a:srgbClr val="121826"/>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2907792"/>
            <a:ext cx="3163824" cy="1133856"/>
          </a:xfrm>
          <a:prstGeom prst="rect">
            <a:avLst/>
          </a:prstGeom>
          <a:noFill/>
        </p:spPr>
        <p:txBody>
          <a:bodyPr wrap="square">
            <a:spAutoFit/>
          </a:bodyPr>
          <a:lstStyle/>
          <a:p>
            <a:pPr>
              <a:defRPr sz="1100" b="1">
                <a:solidFill>
                  <a:srgbClr val="FBBF24"/>
                </a:solidFill>
                <a:latin typeface="Segoe UI"/>
              </a:defRPr>
            </a:pPr>
            <a:r>
              <a:t>CAPABILITY (KAPABILITAS / ALAT)</a:t>
            </a:r>
          </a:p>
          <a:p>
            <a:pPr>
              <a:spcBef>
                <a:spcPts val="100"/>
              </a:spcBef>
              <a:defRPr sz="900">
                <a:solidFill>
                  <a:srgbClr val="F1F5F9"/>
                </a:solidFill>
                <a:latin typeface="Segoe UI"/>
              </a:defRPr>
            </a:pPr>
            <a:r>
              <a:t>Senjata dan teknik perangkat lunak yang digunakan.</a:t>
            </a:r>
          </a:p>
          <a:p>
            <a:pPr>
              <a:spcBef>
                <a:spcPts val="300"/>
              </a:spcBef>
              <a:defRPr sz="850">
                <a:solidFill>
                  <a:srgbClr val="94A3B8"/>
                </a:solidFill>
                <a:latin typeface="Segoe UI"/>
              </a:defRPr>
            </a:pPr>
            <a:r>
              <a:t>• Exploit zero-day atau 1-day pada celah software</a:t>
            </a:r>
            <a:br/>
            <a:r>
              <a:t>• Custom implant, webshell, atau skrip otomatisasi</a:t>
            </a:r>
            <a:br/>
            <a:r>
              <a:t>• Efektivitas teknik evasif terhadap antivirus/EDR</a:t>
            </a:r>
          </a:p>
        </p:txBody>
      </p:sp>
      <p:sp>
        <p:nvSpPr>
          <p:cNvPr id="13" name="Rectangle 12"/>
          <p:cNvSpPr/>
          <p:nvPr/>
        </p:nvSpPr>
        <p:spPr>
          <a:xfrm>
            <a:off x="8046720" y="2834640"/>
            <a:ext cx="3383280" cy="1280160"/>
          </a:xfrm>
          <a:prstGeom prst="rect">
            <a:avLst/>
          </a:prstGeom>
          <a:solidFill>
            <a:srgbClr val="121826"/>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56448" y="2907792"/>
            <a:ext cx="3163824" cy="1133856"/>
          </a:xfrm>
          <a:prstGeom prst="rect">
            <a:avLst/>
          </a:prstGeom>
          <a:noFill/>
        </p:spPr>
        <p:txBody>
          <a:bodyPr wrap="square">
            <a:spAutoFit/>
          </a:bodyPr>
          <a:lstStyle/>
          <a:p>
            <a:pPr>
              <a:defRPr sz="1100" b="1">
                <a:solidFill>
                  <a:srgbClr val="60A5FA"/>
                </a:solidFill>
                <a:latin typeface="Segoe UI"/>
              </a:defRPr>
            </a:pPr>
            <a:r>
              <a:t>INFRASTRUCTURE (INFRASTRUKTUR)</a:t>
            </a:r>
          </a:p>
          <a:p>
            <a:pPr>
              <a:spcBef>
                <a:spcPts val="100"/>
              </a:spcBef>
              <a:defRPr sz="900">
                <a:solidFill>
                  <a:srgbClr val="F1F5F9"/>
                </a:solidFill>
                <a:latin typeface="Segoe UI"/>
              </a:defRPr>
            </a:pPr>
            <a:r>
              <a:t>Jalur komunikasi dan server yang dikendalikan.</a:t>
            </a:r>
          </a:p>
          <a:p>
            <a:pPr>
              <a:spcBef>
                <a:spcPts val="300"/>
              </a:spcBef>
              <a:defRPr sz="850">
                <a:solidFill>
                  <a:srgbClr val="94A3B8"/>
                </a:solidFill>
                <a:latin typeface="Segoe UI"/>
              </a:defRPr>
            </a:pPr>
            <a:r>
              <a:t>• Alamat IP, server proxy, relay VPN, bulletproof host</a:t>
            </a:r>
            <a:br/>
            <a:r>
              <a:t>• Server Command-and-Control (C2), domain registrar</a:t>
            </a:r>
            <a:br/>
            <a:r>
              <a:t>• Pemanfaatan botnet perantara untuk kamuflase</a:t>
            </a:r>
          </a:p>
        </p:txBody>
      </p:sp>
      <p:sp>
        <p:nvSpPr>
          <p:cNvPr id="15" name="Rectangle 14"/>
          <p:cNvSpPr/>
          <p:nvPr/>
        </p:nvSpPr>
        <p:spPr>
          <a:xfrm>
            <a:off x="4297680" y="4434840"/>
            <a:ext cx="3566160" cy="1188720"/>
          </a:xfrm>
          <a:prstGeom prst="rect">
            <a:avLst/>
          </a:prstGeom>
          <a:solidFill>
            <a:srgbClr val="1218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7408" y="4507992"/>
            <a:ext cx="3346704" cy="1042416"/>
          </a:xfrm>
          <a:prstGeom prst="rect">
            <a:avLst/>
          </a:prstGeom>
          <a:noFill/>
        </p:spPr>
        <p:txBody>
          <a:bodyPr wrap="square">
            <a:spAutoFit/>
          </a:bodyPr>
          <a:lstStyle/>
          <a:p>
            <a:pPr>
              <a:defRPr sz="1100" b="1">
                <a:solidFill>
                  <a:srgbClr val="34D399"/>
                </a:solidFill>
                <a:latin typeface="Segoe UI"/>
              </a:defRPr>
            </a:pPr>
            <a:r>
              <a:t>VICTIM (SASARAN / KORBAN)</a:t>
            </a:r>
          </a:p>
          <a:p>
            <a:pPr>
              <a:spcBef>
                <a:spcPts val="100"/>
              </a:spcBef>
              <a:defRPr sz="900">
                <a:solidFill>
                  <a:srgbClr val="F1F5F9"/>
                </a:solidFill>
                <a:latin typeface="Segoe UI"/>
              </a:defRPr>
            </a:pPr>
            <a:r>
              <a:t>Target organisasi atau aset yang disasar.</a:t>
            </a:r>
          </a:p>
          <a:p>
            <a:pPr>
              <a:spcBef>
                <a:spcPts val="300"/>
              </a:spcBef>
              <a:defRPr sz="850">
                <a:solidFill>
                  <a:srgbClr val="94A3B8"/>
                </a:solidFill>
                <a:latin typeface="Segoe UI"/>
              </a:defRPr>
            </a:pPr>
            <a:r>
              <a:t>• Personel kunci: staf keuangan, admin sistem IT</a:t>
            </a:r>
            <a:br/>
            <a:r>
              <a:t>• Infrastruktur kritis: server basis data, API gateway</a:t>
            </a:r>
            <a:br/>
            <a:r>
              <a:t>• Nilai strategis aset bagi kelangsungan bisnis</a:t>
            </a:r>
          </a:p>
        </p:txBody>
      </p:sp>
      <p:sp>
        <p:nvSpPr>
          <p:cNvPr id="17" name="TextBox 16"/>
          <p:cNvSpPr txBox="1"/>
          <p:nvPr/>
        </p:nvSpPr>
        <p:spPr>
          <a:xfrm>
            <a:off x="731520" y="5760720"/>
            <a:ext cx="10728655" cy="457200"/>
          </a:xfrm>
          <a:prstGeom prst="rect">
            <a:avLst/>
          </a:prstGeom>
          <a:noFill/>
        </p:spPr>
        <p:txBody>
          <a:bodyPr wrap="none">
            <a:spAutoFit/>
          </a:bodyPr>
          <a:lstStyle/>
          <a:p>
            <a:pPr>
              <a:defRPr sz="900" b="1">
                <a:solidFill>
                  <a:srgbClr val="64748B"/>
                </a:solidFill>
                <a:latin typeface="Segoe UI"/>
              </a:defRPr>
            </a:pPr>
            <a:r>
              <a:t>DUA SUMBU PENDUKUNG MODEL DIAMOND: Sumbu Sosial-Politik (menghubungkan Pelaku dengan Sasaran) dan Sumbu Teknologi (menghubungkan Kapabilitas dengan Infrastruktur).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10728655" cy="12700"/>
          </a:xfrm>
          <a:prstGeom prst="rect">
            <a:avLst/>
          </a:prstGeom>
          <a:solidFill>
            <a:srgbClr val="28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00" b="1">
                <a:solidFill>
                  <a:srgbClr val="38BDF8"/>
                </a:solidFill>
                <a:latin typeface="Segoe UI"/>
              </a:defRPr>
            </a:pPr>
            <a:r>
              <a:t>MODEL ANALISIS ANCAMAN</a:t>
            </a:r>
          </a:p>
        </p:txBody>
      </p:sp>
      <p:sp>
        <p:nvSpPr>
          <p:cNvPr id="5" name="TextBox 4"/>
          <p:cNvSpPr txBox="1"/>
          <p:nvPr/>
        </p:nvSpPr>
        <p:spPr>
          <a:xfrm>
            <a:off x="8229600" y="320040"/>
            <a:ext cx="3200400" cy="274320"/>
          </a:xfrm>
          <a:prstGeom prst="rect">
            <a:avLst/>
          </a:prstGeom>
          <a:noFill/>
        </p:spPr>
        <p:txBody>
          <a:bodyPr wrap="none">
            <a:spAutoFit/>
          </a:bodyPr>
          <a:lstStyle/>
          <a:p>
            <a:pPr algn="r">
              <a:defRPr sz="850" b="1">
                <a:solidFill>
                  <a:srgbClr val="64748B"/>
                </a:solidFill>
                <a:latin typeface="Segoe UI"/>
              </a:defRPr>
            </a:pPr>
            <a:r>
              <a:t>TLP:CLEAR  //  THREAT INTEL BRIEFING</a:t>
            </a:r>
          </a:p>
        </p:txBody>
      </p:sp>
      <p:sp>
        <p:nvSpPr>
          <p:cNvPr id="6" name="TextBox 5"/>
          <p:cNvSpPr txBox="1"/>
          <p:nvPr/>
        </p:nvSpPr>
        <p:spPr>
          <a:xfrm>
            <a:off x="731520" y="548640"/>
            <a:ext cx="10728655" cy="594360"/>
          </a:xfrm>
          <a:prstGeom prst="rect">
            <a:avLst/>
          </a:prstGeom>
          <a:noFill/>
        </p:spPr>
        <p:txBody>
          <a:bodyPr wrap="square">
            <a:spAutoFit/>
          </a:bodyPr>
          <a:lstStyle/>
          <a:p>
            <a:pPr>
              <a:defRPr sz="2000" b="1">
                <a:solidFill>
                  <a:srgbClr val="F1F5F9"/>
                </a:solidFill>
                <a:latin typeface="Segoe UI"/>
              </a:defRPr>
            </a:pPr>
            <a:r>
              <a:t>Cyber Kill Chain: Anatomi Intrusi dan Titik Intervensi Defensif</a:t>
            </a:r>
          </a:p>
        </p:txBody>
      </p:sp>
      <p:sp>
        <p:nvSpPr>
          <p:cNvPr id="7" name="Rectangle 6"/>
          <p:cNvSpPr/>
          <p:nvPr/>
        </p:nvSpPr>
        <p:spPr>
          <a:xfrm>
            <a:off x="731520" y="1463040"/>
            <a:ext cx="1444752" cy="4114800"/>
          </a:xfrm>
          <a:prstGeom prst="rect">
            <a:avLst/>
          </a:prstGeom>
          <a:solidFill>
            <a:srgbClr val="1218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554480"/>
            <a:ext cx="1298448" cy="3931920"/>
          </a:xfrm>
          <a:prstGeom prst="rect">
            <a:avLst/>
          </a:prstGeom>
          <a:noFill/>
        </p:spPr>
        <p:txBody>
          <a:bodyPr wrap="square">
            <a:spAutoFit/>
          </a:bodyPr>
          <a:lstStyle/>
          <a:p>
            <a:pPr>
              <a:defRPr sz="900" b="1">
                <a:solidFill>
                  <a:srgbClr val="38BDF8"/>
                </a:solidFill>
                <a:latin typeface="Segoe UI"/>
              </a:defRPr>
            </a:pPr>
            <a:r>
              <a:t>FASE 01</a:t>
            </a:r>
          </a:p>
          <a:p>
            <a:pPr>
              <a:spcBef>
                <a:spcPts val="300"/>
              </a:spcBef>
              <a:defRPr sz="1050" b="1">
                <a:solidFill>
                  <a:srgbClr val="F1F5F9"/>
                </a:solidFill>
                <a:latin typeface="Segoe UI"/>
              </a:defRPr>
            </a:pPr>
            <a:r>
              <a:t>Reconnaissance</a:t>
            </a:r>
          </a:p>
          <a:p>
            <a:pPr>
              <a:spcBef>
                <a:spcPts val="100"/>
              </a:spcBef>
              <a:defRPr sz="850">
                <a:solidFill>
                  <a:srgbClr val="64748B"/>
                </a:solidFill>
                <a:latin typeface="Segoe UI"/>
              </a:defRPr>
            </a:pPr>
            <a:r>
              <a:t>(Pengintaian)</a:t>
            </a:r>
          </a:p>
          <a:p>
            <a:pPr>
              <a:spcBef>
                <a:spcPts val="800"/>
              </a:spcBef>
              <a:defRPr sz="880">
                <a:solidFill>
                  <a:srgbClr val="94A3B8"/>
                </a:solidFill>
                <a:latin typeface="Segoe UI"/>
              </a:defRPr>
            </a:pPr>
            <a:r>
              <a:t>Pemindaian port, enumerasi email target, pengumpulan OSINT.</a:t>
            </a:r>
          </a:p>
          <a:p>
            <a:pPr>
              <a:spcBef>
                <a:spcPts val="1200"/>
              </a:spcBef>
              <a:defRPr sz="800" b="1">
                <a:solidFill>
                  <a:srgbClr val="38BDF8"/>
                </a:solidFill>
                <a:latin typeface="Segoe UI"/>
              </a:defRPr>
            </a:pPr>
            <a:r>
              <a:t>Leverage: TERTINGGI</a:t>
            </a:r>
            <a:br/>
            <a:r>
              <a:t>Biaya Mitigasi: Minimal</a:t>
            </a:r>
          </a:p>
        </p:txBody>
      </p:sp>
      <p:sp>
        <p:nvSpPr>
          <p:cNvPr id="9" name="Rectangle 8"/>
          <p:cNvSpPr/>
          <p:nvPr/>
        </p:nvSpPr>
        <p:spPr>
          <a:xfrm>
            <a:off x="2267712" y="1463040"/>
            <a:ext cx="1444752" cy="4114800"/>
          </a:xfrm>
          <a:prstGeom prst="rect">
            <a:avLst/>
          </a:prstGeom>
          <a:solidFill>
            <a:srgbClr val="1218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40864" y="1554480"/>
            <a:ext cx="1298448" cy="3931920"/>
          </a:xfrm>
          <a:prstGeom prst="rect">
            <a:avLst/>
          </a:prstGeom>
          <a:noFill/>
        </p:spPr>
        <p:txBody>
          <a:bodyPr wrap="square">
            <a:spAutoFit/>
          </a:bodyPr>
          <a:lstStyle/>
          <a:p>
            <a:pPr>
              <a:defRPr sz="900" b="1">
                <a:solidFill>
                  <a:srgbClr val="38BDF8"/>
                </a:solidFill>
                <a:latin typeface="Segoe UI"/>
              </a:defRPr>
            </a:pPr>
            <a:r>
              <a:t>FASE 02</a:t>
            </a:r>
          </a:p>
          <a:p>
            <a:pPr>
              <a:spcBef>
                <a:spcPts val="300"/>
              </a:spcBef>
              <a:defRPr sz="1050" b="1">
                <a:solidFill>
                  <a:srgbClr val="F1F5F9"/>
                </a:solidFill>
                <a:latin typeface="Segoe UI"/>
              </a:defRPr>
            </a:pPr>
            <a:r>
              <a:t>Weaponization</a:t>
            </a:r>
          </a:p>
          <a:p>
            <a:pPr>
              <a:spcBef>
                <a:spcPts val="100"/>
              </a:spcBef>
              <a:defRPr sz="850">
                <a:solidFill>
                  <a:srgbClr val="64748B"/>
                </a:solidFill>
                <a:latin typeface="Segoe UI"/>
              </a:defRPr>
            </a:pPr>
            <a:r>
              <a:t>(Persenjataan)</a:t>
            </a:r>
          </a:p>
          <a:p>
            <a:pPr>
              <a:spcBef>
                <a:spcPts val="800"/>
              </a:spcBef>
              <a:defRPr sz="880">
                <a:solidFill>
                  <a:srgbClr val="94A3B8"/>
                </a:solidFill>
                <a:latin typeface="Segoe UI"/>
              </a:defRPr>
            </a:pPr>
            <a:r>
              <a:t>Penyisipan muatan exploit ke dalam berkas dokumen atau installer.</a:t>
            </a:r>
          </a:p>
          <a:p>
            <a:pPr>
              <a:spcBef>
                <a:spcPts val="1200"/>
              </a:spcBef>
              <a:defRPr sz="800" b="1">
                <a:solidFill>
                  <a:srgbClr val="38BDF8"/>
                </a:solidFill>
                <a:latin typeface="Segoe UI"/>
              </a:defRPr>
            </a:pPr>
            <a:r>
              <a:t>Analisis di sandbox / feed eksternal</a:t>
            </a:r>
          </a:p>
        </p:txBody>
      </p:sp>
      <p:sp>
        <p:nvSpPr>
          <p:cNvPr id="11" name="Rectangle 10"/>
          <p:cNvSpPr/>
          <p:nvPr/>
        </p:nvSpPr>
        <p:spPr>
          <a:xfrm>
            <a:off x="3803904" y="1463040"/>
            <a:ext cx="1444752" cy="4114800"/>
          </a:xfrm>
          <a:prstGeom prst="rect">
            <a:avLst/>
          </a:prstGeom>
          <a:solidFill>
            <a:srgbClr val="121826"/>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77056" y="1554480"/>
            <a:ext cx="1298448" cy="3931920"/>
          </a:xfrm>
          <a:prstGeom prst="rect">
            <a:avLst/>
          </a:prstGeom>
          <a:noFill/>
        </p:spPr>
        <p:txBody>
          <a:bodyPr wrap="square">
            <a:spAutoFit/>
          </a:bodyPr>
          <a:lstStyle/>
          <a:p>
            <a:pPr>
              <a:defRPr sz="900" b="1">
                <a:solidFill>
                  <a:srgbClr val="60A5FA"/>
                </a:solidFill>
                <a:latin typeface="Segoe UI"/>
              </a:defRPr>
            </a:pPr>
            <a:r>
              <a:t>FASE 03</a:t>
            </a:r>
          </a:p>
          <a:p>
            <a:pPr>
              <a:spcBef>
                <a:spcPts val="300"/>
              </a:spcBef>
              <a:defRPr sz="1050" b="1">
                <a:solidFill>
                  <a:srgbClr val="F1F5F9"/>
                </a:solidFill>
                <a:latin typeface="Segoe UI"/>
              </a:defRPr>
            </a:pPr>
            <a:r>
              <a:t>Delivery</a:t>
            </a:r>
          </a:p>
          <a:p>
            <a:pPr>
              <a:spcBef>
                <a:spcPts val="100"/>
              </a:spcBef>
              <a:defRPr sz="850">
                <a:solidFill>
                  <a:srgbClr val="64748B"/>
                </a:solidFill>
                <a:latin typeface="Segoe UI"/>
              </a:defRPr>
            </a:pPr>
            <a:r>
              <a:t>(Pengiriman)</a:t>
            </a:r>
          </a:p>
          <a:p>
            <a:pPr>
              <a:spcBef>
                <a:spcPts val="800"/>
              </a:spcBef>
              <a:defRPr sz="880">
                <a:solidFill>
                  <a:srgbClr val="94A3B8"/>
                </a:solidFill>
                <a:latin typeface="Segoe UI"/>
              </a:defRPr>
            </a:pPr>
            <a:r>
              <a:t>Penyebaran melalui spear-phishing email atau layanan web terbuka.</a:t>
            </a:r>
          </a:p>
          <a:p>
            <a:pPr>
              <a:spcBef>
                <a:spcPts val="1200"/>
              </a:spcBef>
              <a:defRPr sz="800" b="1">
                <a:solidFill>
                  <a:srgbClr val="60A5FA"/>
                </a:solidFill>
                <a:latin typeface="Segoe UI"/>
              </a:defRPr>
            </a:pPr>
            <a:r>
              <a:t>Email gateway &amp; firewall filtering</a:t>
            </a:r>
          </a:p>
        </p:txBody>
      </p:sp>
      <p:sp>
        <p:nvSpPr>
          <p:cNvPr id="13" name="Rectangle 12"/>
          <p:cNvSpPr/>
          <p:nvPr/>
        </p:nvSpPr>
        <p:spPr>
          <a:xfrm>
            <a:off x="5340096" y="1463040"/>
            <a:ext cx="1444752" cy="4114800"/>
          </a:xfrm>
          <a:prstGeom prst="rect">
            <a:avLst/>
          </a:prstGeom>
          <a:solidFill>
            <a:srgbClr val="121826"/>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13248" y="1554480"/>
            <a:ext cx="1298448" cy="3931920"/>
          </a:xfrm>
          <a:prstGeom prst="rect">
            <a:avLst/>
          </a:prstGeom>
          <a:noFill/>
        </p:spPr>
        <p:txBody>
          <a:bodyPr wrap="square">
            <a:spAutoFit/>
          </a:bodyPr>
          <a:lstStyle/>
          <a:p>
            <a:pPr>
              <a:defRPr sz="900" b="1">
                <a:solidFill>
                  <a:srgbClr val="FBBF24"/>
                </a:solidFill>
                <a:latin typeface="Segoe UI"/>
              </a:defRPr>
            </a:pPr>
            <a:r>
              <a:t>FASE 04</a:t>
            </a:r>
          </a:p>
          <a:p>
            <a:pPr>
              <a:spcBef>
                <a:spcPts val="300"/>
              </a:spcBef>
              <a:defRPr sz="1050" b="1">
                <a:solidFill>
                  <a:srgbClr val="F1F5F9"/>
                </a:solidFill>
                <a:latin typeface="Segoe UI"/>
              </a:defRPr>
            </a:pPr>
            <a:r>
              <a:t>Exploitation</a:t>
            </a:r>
          </a:p>
          <a:p>
            <a:pPr>
              <a:spcBef>
                <a:spcPts val="100"/>
              </a:spcBef>
              <a:defRPr sz="850">
                <a:solidFill>
                  <a:srgbClr val="64748B"/>
                </a:solidFill>
                <a:latin typeface="Segoe UI"/>
              </a:defRPr>
            </a:pPr>
            <a:r>
              <a:t>(Eksploitasi)</a:t>
            </a:r>
          </a:p>
          <a:p>
            <a:pPr>
              <a:spcBef>
                <a:spcPts val="800"/>
              </a:spcBef>
              <a:defRPr sz="880">
                <a:solidFill>
                  <a:srgbClr val="94A3B8"/>
                </a:solidFill>
                <a:latin typeface="Segoe UI"/>
              </a:defRPr>
            </a:pPr>
            <a:r>
              <a:t>Celah software dieksekusi saat berkas dibuka oleh korban.</a:t>
            </a:r>
          </a:p>
          <a:p>
            <a:pPr>
              <a:spcBef>
                <a:spcPts val="1200"/>
              </a:spcBef>
              <a:defRPr sz="800" b="1">
                <a:solidFill>
                  <a:srgbClr val="FBBF24"/>
                </a:solidFill>
                <a:latin typeface="Segoe UI"/>
              </a:defRPr>
            </a:pPr>
            <a:r>
              <a:t>Patch management &amp; EDR block</a:t>
            </a:r>
          </a:p>
        </p:txBody>
      </p:sp>
      <p:sp>
        <p:nvSpPr>
          <p:cNvPr id="15" name="Rectangle 14"/>
          <p:cNvSpPr/>
          <p:nvPr/>
        </p:nvSpPr>
        <p:spPr>
          <a:xfrm>
            <a:off x="6876288" y="1463040"/>
            <a:ext cx="1444752" cy="4114800"/>
          </a:xfrm>
          <a:prstGeom prst="rect">
            <a:avLst/>
          </a:prstGeom>
          <a:solidFill>
            <a:srgbClr val="121826"/>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1554480"/>
            <a:ext cx="1298448" cy="3931920"/>
          </a:xfrm>
          <a:prstGeom prst="rect">
            <a:avLst/>
          </a:prstGeom>
          <a:noFill/>
        </p:spPr>
        <p:txBody>
          <a:bodyPr wrap="square">
            <a:spAutoFit/>
          </a:bodyPr>
          <a:lstStyle/>
          <a:p>
            <a:pPr>
              <a:defRPr sz="900" b="1">
                <a:solidFill>
                  <a:srgbClr val="FBBF24"/>
                </a:solidFill>
                <a:latin typeface="Segoe UI"/>
              </a:defRPr>
            </a:pPr>
            <a:r>
              <a:t>FASE 05</a:t>
            </a:r>
          </a:p>
          <a:p>
            <a:pPr>
              <a:spcBef>
                <a:spcPts val="300"/>
              </a:spcBef>
              <a:defRPr sz="1050" b="1">
                <a:solidFill>
                  <a:srgbClr val="F1F5F9"/>
                </a:solidFill>
                <a:latin typeface="Segoe UI"/>
              </a:defRPr>
            </a:pPr>
            <a:r>
              <a:t>Installation</a:t>
            </a:r>
          </a:p>
          <a:p>
            <a:pPr>
              <a:spcBef>
                <a:spcPts val="100"/>
              </a:spcBef>
              <a:defRPr sz="850">
                <a:solidFill>
                  <a:srgbClr val="64748B"/>
                </a:solidFill>
                <a:latin typeface="Segoe UI"/>
              </a:defRPr>
            </a:pPr>
            <a:r>
              <a:t>(Instalasi)</a:t>
            </a:r>
          </a:p>
          <a:p>
            <a:pPr>
              <a:spcBef>
                <a:spcPts val="800"/>
              </a:spcBef>
              <a:defRPr sz="880">
                <a:solidFill>
                  <a:srgbClr val="94A3B8"/>
                </a:solidFill>
                <a:latin typeface="Segoe UI"/>
              </a:defRPr>
            </a:pPr>
            <a:r>
              <a:t>Pemasangan backdoor atau mekanisme persistensi di sistem operasi.</a:t>
            </a:r>
          </a:p>
          <a:p>
            <a:pPr>
              <a:spcBef>
                <a:spcPts val="1200"/>
              </a:spcBef>
              <a:defRPr sz="800" b="1">
                <a:solidFill>
                  <a:srgbClr val="FBBF24"/>
                </a:solidFill>
                <a:latin typeface="Segoe UI"/>
              </a:defRPr>
            </a:pPr>
            <a:r>
              <a:t>Integritas file &amp; hak akses admin</a:t>
            </a:r>
          </a:p>
        </p:txBody>
      </p:sp>
      <p:sp>
        <p:nvSpPr>
          <p:cNvPr id="17" name="Rectangle 16"/>
          <p:cNvSpPr/>
          <p:nvPr/>
        </p:nvSpPr>
        <p:spPr>
          <a:xfrm>
            <a:off x="8412480" y="1463040"/>
            <a:ext cx="1444752" cy="4114800"/>
          </a:xfrm>
          <a:prstGeom prst="rect">
            <a:avLst/>
          </a:prstGeom>
          <a:solidFill>
            <a:srgbClr val="121826"/>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85632" y="1554480"/>
            <a:ext cx="1298448" cy="3931920"/>
          </a:xfrm>
          <a:prstGeom prst="rect">
            <a:avLst/>
          </a:prstGeom>
          <a:noFill/>
        </p:spPr>
        <p:txBody>
          <a:bodyPr wrap="square">
            <a:spAutoFit/>
          </a:bodyPr>
          <a:lstStyle/>
          <a:p>
            <a:pPr>
              <a:defRPr sz="900" b="1">
                <a:solidFill>
                  <a:srgbClr val="F87171"/>
                </a:solidFill>
                <a:latin typeface="Segoe UI"/>
              </a:defRPr>
            </a:pPr>
            <a:r>
              <a:t>FASE 06</a:t>
            </a:r>
          </a:p>
          <a:p>
            <a:pPr>
              <a:spcBef>
                <a:spcPts val="300"/>
              </a:spcBef>
              <a:defRPr sz="1050" b="1">
                <a:solidFill>
                  <a:srgbClr val="F1F5F9"/>
                </a:solidFill>
                <a:latin typeface="Segoe UI"/>
              </a:defRPr>
            </a:pPr>
            <a:r>
              <a:t>C2 Channel</a:t>
            </a:r>
          </a:p>
          <a:p>
            <a:pPr>
              <a:spcBef>
                <a:spcPts val="100"/>
              </a:spcBef>
              <a:defRPr sz="850">
                <a:solidFill>
                  <a:srgbClr val="64748B"/>
                </a:solidFill>
                <a:latin typeface="Segoe UI"/>
              </a:defRPr>
            </a:pPr>
            <a:r>
              <a:t>(Komunikasi C2)</a:t>
            </a:r>
          </a:p>
          <a:p>
            <a:pPr>
              <a:spcBef>
                <a:spcPts val="800"/>
              </a:spcBef>
              <a:defRPr sz="880">
                <a:solidFill>
                  <a:srgbClr val="94A3B8"/>
                </a:solidFill>
                <a:latin typeface="Segoe UI"/>
              </a:defRPr>
            </a:pPr>
            <a:r>
              <a:t>Malware menghubungi server pengendali milik penyerang.</a:t>
            </a:r>
          </a:p>
          <a:p>
            <a:pPr>
              <a:spcBef>
                <a:spcPts val="1200"/>
              </a:spcBef>
              <a:defRPr sz="800" b="1">
                <a:solidFill>
                  <a:srgbClr val="F87171"/>
                </a:solidFill>
                <a:latin typeface="Segoe UI"/>
              </a:defRPr>
            </a:pPr>
            <a:r>
              <a:t>DNS sinkhole &amp; proxy egress filter</a:t>
            </a:r>
          </a:p>
        </p:txBody>
      </p:sp>
      <p:sp>
        <p:nvSpPr>
          <p:cNvPr id="19" name="Rectangle 18"/>
          <p:cNvSpPr/>
          <p:nvPr/>
        </p:nvSpPr>
        <p:spPr>
          <a:xfrm>
            <a:off x="9948672" y="1463040"/>
            <a:ext cx="1444752" cy="4114800"/>
          </a:xfrm>
          <a:prstGeom prst="rect">
            <a:avLst/>
          </a:prstGeom>
          <a:solidFill>
            <a:srgbClr val="121826"/>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21824" y="1554480"/>
            <a:ext cx="1298448" cy="3931920"/>
          </a:xfrm>
          <a:prstGeom prst="rect">
            <a:avLst/>
          </a:prstGeom>
          <a:noFill/>
        </p:spPr>
        <p:txBody>
          <a:bodyPr wrap="square">
            <a:spAutoFit/>
          </a:bodyPr>
          <a:lstStyle/>
          <a:p>
            <a:pPr>
              <a:defRPr sz="900" b="1">
                <a:solidFill>
                  <a:srgbClr val="F87171"/>
                </a:solidFill>
                <a:latin typeface="Segoe UI"/>
              </a:defRPr>
            </a:pPr>
            <a:r>
              <a:t>FASE 07</a:t>
            </a:r>
          </a:p>
          <a:p>
            <a:pPr>
              <a:spcBef>
                <a:spcPts val="300"/>
              </a:spcBef>
              <a:defRPr sz="1050" b="1">
                <a:solidFill>
                  <a:srgbClr val="F1F5F9"/>
                </a:solidFill>
                <a:latin typeface="Segoe UI"/>
              </a:defRPr>
            </a:pPr>
            <a:r>
              <a:t>Actions on Obj.</a:t>
            </a:r>
          </a:p>
          <a:p>
            <a:pPr>
              <a:spcBef>
                <a:spcPts val="100"/>
              </a:spcBef>
              <a:defRPr sz="850">
                <a:solidFill>
                  <a:srgbClr val="64748B"/>
                </a:solidFill>
                <a:latin typeface="Segoe UI"/>
              </a:defRPr>
            </a:pPr>
            <a:r>
              <a:t>(Tujuan Akhir)</a:t>
            </a:r>
          </a:p>
          <a:p>
            <a:pPr>
              <a:spcBef>
                <a:spcPts val="800"/>
              </a:spcBef>
              <a:defRPr sz="880">
                <a:solidFill>
                  <a:srgbClr val="94A3B8"/>
                </a:solidFill>
                <a:latin typeface="Segoe UI"/>
              </a:defRPr>
            </a:pPr>
            <a:r>
              <a:t>Pencurian basis data sensitif, sabotase, atau ransomware.</a:t>
            </a:r>
          </a:p>
          <a:p>
            <a:pPr>
              <a:spcBef>
                <a:spcPts val="1200"/>
              </a:spcBef>
              <a:defRPr sz="800" b="1">
                <a:solidFill>
                  <a:srgbClr val="F87171"/>
                </a:solidFill>
                <a:latin typeface="Segoe UI"/>
              </a:defRPr>
            </a:pPr>
            <a:r>
              <a:t>Leverage: TERENDAH</a:t>
            </a:r>
            <a:br/>
            <a:r>
              <a:t>Dampak Kerugian: Fatal</a:t>
            </a:r>
          </a:p>
        </p:txBody>
      </p:sp>
      <p:sp>
        <p:nvSpPr>
          <p:cNvPr id="21" name="Rectangle 20"/>
          <p:cNvSpPr/>
          <p:nvPr/>
        </p:nvSpPr>
        <p:spPr>
          <a:xfrm>
            <a:off x="731520" y="5715000"/>
            <a:ext cx="10698480" cy="594360"/>
          </a:xfrm>
          <a:prstGeom prst="rect">
            <a:avLst/>
          </a:prstGeom>
          <a:solidFill>
            <a:srgbClr val="182032"/>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742432"/>
            <a:ext cx="10332720" cy="548640"/>
          </a:xfrm>
          <a:prstGeom prst="rect">
            <a:avLst/>
          </a:prstGeom>
          <a:noFill/>
        </p:spPr>
        <p:txBody>
          <a:bodyPr wrap="none">
            <a:spAutoFit/>
          </a:bodyPr>
          <a:lstStyle/>
          <a:p>
            <a:pPr>
              <a:defRPr sz="919">
                <a:solidFill>
                  <a:srgbClr val="F1F5F9"/>
                </a:solidFill>
                <a:latin typeface="Segoe UI"/>
              </a:defRPr>
            </a:pPr>
            <a:r>
              <a:t>PRINSIP ASIMETRI DEFENSIP: Menggagalkan penyerang pada 1 tahap mana pun dalam Kill Chain akan membatalkan seluruh operasi mereka. Namun, jika penyerang mencapai Fase 07, kerugian bisnis organisasi telah terjadi.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10728655" cy="12700"/>
          </a:xfrm>
          <a:prstGeom prst="rect">
            <a:avLst/>
          </a:prstGeom>
          <a:solidFill>
            <a:srgbClr val="28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00" b="1">
                <a:solidFill>
                  <a:srgbClr val="38BDF8"/>
                </a:solidFill>
                <a:latin typeface="Segoe UI"/>
              </a:defRPr>
            </a:pPr>
            <a:r>
              <a:t>PRINSIP NILAI INTELIJEN</a:t>
            </a:r>
          </a:p>
        </p:txBody>
      </p:sp>
      <p:sp>
        <p:nvSpPr>
          <p:cNvPr id="5" name="TextBox 4"/>
          <p:cNvSpPr txBox="1"/>
          <p:nvPr/>
        </p:nvSpPr>
        <p:spPr>
          <a:xfrm>
            <a:off x="8229600" y="320040"/>
            <a:ext cx="3200400" cy="274320"/>
          </a:xfrm>
          <a:prstGeom prst="rect">
            <a:avLst/>
          </a:prstGeom>
          <a:noFill/>
        </p:spPr>
        <p:txBody>
          <a:bodyPr wrap="none">
            <a:spAutoFit/>
          </a:bodyPr>
          <a:lstStyle/>
          <a:p>
            <a:pPr algn="r">
              <a:defRPr sz="850" b="1">
                <a:solidFill>
                  <a:srgbClr val="64748B"/>
                </a:solidFill>
                <a:latin typeface="Segoe UI"/>
              </a:defRPr>
            </a:pPr>
            <a:r>
              <a:t>TLP:CLEAR  //  THREAT INTEL BRIEFING</a:t>
            </a:r>
          </a:p>
        </p:txBody>
      </p:sp>
      <p:sp>
        <p:nvSpPr>
          <p:cNvPr id="6" name="TextBox 5"/>
          <p:cNvSpPr txBox="1"/>
          <p:nvPr/>
        </p:nvSpPr>
        <p:spPr>
          <a:xfrm>
            <a:off x="731520" y="548640"/>
            <a:ext cx="10728655" cy="594360"/>
          </a:xfrm>
          <a:prstGeom prst="rect">
            <a:avLst/>
          </a:prstGeom>
          <a:noFill/>
        </p:spPr>
        <p:txBody>
          <a:bodyPr wrap="square">
            <a:spAutoFit/>
          </a:bodyPr>
          <a:lstStyle/>
          <a:p>
            <a:pPr>
              <a:defRPr sz="2000" b="1">
                <a:solidFill>
                  <a:srgbClr val="F1F5F9"/>
                </a:solidFill>
                <a:latin typeface="Segoe UI"/>
              </a:defRPr>
            </a:pPr>
            <a:r>
              <a:t>Pyramid of Pain: Mengukur Dampak dan Biaya Hambatan bagi Penyerang</a:t>
            </a:r>
          </a:p>
        </p:txBody>
      </p:sp>
      <p:sp>
        <p:nvSpPr>
          <p:cNvPr id="7" name="Rectangle 6"/>
          <p:cNvSpPr/>
          <p:nvPr/>
        </p:nvSpPr>
        <p:spPr>
          <a:xfrm>
            <a:off x="731520" y="1463040"/>
            <a:ext cx="10728655" cy="658368"/>
          </a:xfrm>
          <a:prstGeom prst="rect">
            <a:avLst/>
          </a:prstGeom>
          <a:solidFill>
            <a:srgbClr val="121826"/>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99616"/>
            <a:ext cx="10332720" cy="594360"/>
          </a:xfrm>
          <a:prstGeom prst="rect">
            <a:avLst/>
          </a:prstGeom>
          <a:noFill/>
        </p:spPr>
        <p:txBody>
          <a:bodyPr wrap="square">
            <a:spAutoFit/>
          </a:bodyPr>
          <a:lstStyle/>
          <a:p>
            <a:pPr>
              <a:defRPr sz="1050" b="1">
                <a:solidFill>
                  <a:srgbClr val="F87171"/>
                </a:solidFill>
                <a:latin typeface="Segoe UI"/>
              </a:defRPr>
            </a:pPr>
            <a:r>
              <a:t>TTPs (Taktik, Teknik, dan Prosedur)   |   BIAYA BAGI PENYERANG: SANGAT TINGGI (TOUGH)</a:t>
            </a:r>
          </a:p>
          <a:p>
            <a:pPr>
              <a:spcBef>
                <a:spcPts val="100"/>
              </a:spcBef>
              <a:defRPr sz="919">
                <a:solidFill>
                  <a:srgbClr val="F1F5F9"/>
                </a:solidFill>
                <a:latin typeface="Segoe UI"/>
              </a:defRPr>
            </a:pPr>
            <a:r>
              <a:t>Memaksa penyerang merombak total metodologi, melatih ulang personel peretas, atau mencari vektor serangan baru.</a:t>
            </a:r>
          </a:p>
        </p:txBody>
      </p:sp>
      <p:sp>
        <p:nvSpPr>
          <p:cNvPr id="9" name="Rectangle 8"/>
          <p:cNvSpPr/>
          <p:nvPr/>
        </p:nvSpPr>
        <p:spPr>
          <a:xfrm>
            <a:off x="731520" y="2240280"/>
            <a:ext cx="10728655" cy="658368"/>
          </a:xfrm>
          <a:prstGeom prst="rect">
            <a:avLst/>
          </a:prstGeom>
          <a:solidFill>
            <a:srgbClr val="121826"/>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76856"/>
            <a:ext cx="10332720" cy="594360"/>
          </a:xfrm>
          <a:prstGeom prst="rect">
            <a:avLst/>
          </a:prstGeom>
          <a:noFill/>
        </p:spPr>
        <p:txBody>
          <a:bodyPr wrap="square">
            <a:spAutoFit/>
          </a:bodyPr>
          <a:lstStyle/>
          <a:p>
            <a:pPr>
              <a:defRPr sz="1050" b="1">
                <a:solidFill>
                  <a:srgbClr val="FBBF24"/>
                </a:solidFill>
                <a:latin typeface="Segoe UI"/>
              </a:defRPr>
            </a:pPr>
            <a:r>
              <a:t>Tools / Perangkat Lunak Serangan   |   BIAYA BAGI PENYERANG: TINGGI (CHALLENGING)</a:t>
            </a:r>
          </a:p>
          <a:p>
            <a:pPr>
              <a:spcBef>
                <a:spcPts val="100"/>
              </a:spcBef>
              <a:defRPr sz="919">
                <a:solidFill>
                  <a:srgbClr val="F1F5F9"/>
                </a:solidFill>
                <a:latin typeface="Segoe UI"/>
              </a:defRPr>
            </a:pPr>
            <a:r>
              <a:t>Memblokir utility atau builder malware memaksa lawan merekayasa ulang software exploit atau membeli tool baru.</a:t>
            </a:r>
          </a:p>
        </p:txBody>
      </p:sp>
      <p:sp>
        <p:nvSpPr>
          <p:cNvPr id="11" name="Rectangle 10"/>
          <p:cNvSpPr/>
          <p:nvPr/>
        </p:nvSpPr>
        <p:spPr>
          <a:xfrm>
            <a:off x="731520" y="3017520"/>
            <a:ext cx="10728655" cy="658368"/>
          </a:xfrm>
          <a:prstGeom prst="rect">
            <a:avLst/>
          </a:prstGeom>
          <a:solidFill>
            <a:srgbClr val="121826"/>
          </a:solidFill>
          <a:ln w="1270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054096"/>
            <a:ext cx="10332720" cy="594360"/>
          </a:xfrm>
          <a:prstGeom prst="rect">
            <a:avLst/>
          </a:prstGeom>
          <a:noFill/>
        </p:spPr>
        <p:txBody>
          <a:bodyPr wrap="square">
            <a:spAutoFit/>
          </a:bodyPr>
          <a:lstStyle/>
          <a:p>
            <a:pPr>
              <a:defRPr sz="1050" b="1">
                <a:solidFill>
                  <a:srgbClr val="C084FC"/>
                </a:solidFill>
                <a:latin typeface="Segoe UI"/>
              </a:defRPr>
            </a:pPr>
            <a:r>
              <a:t>Network / Host Artifacts   |   BIAYA BAGI PENYERANG: MENENGAH (ANNOYING)</a:t>
            </a:r>
          </a:p>
          <a:p>
            <a:pPr>
              <a:spcBef>
                <a:spcPts val="100"/>
              </a:spcBef>
              <a:defRPr sz="919">
                <a:solidFill>
                  <a:srgbClr val="F1F5F9"/>
                </a:solidFill>
                <a:latin typeface="Segoe UI"/>
              </a:defRPr>
            </a:pPr>
            <a:r>
              <a:t>Mendeteksi pola URI khas, metadata kompilasi (PDB path), nama author dokumen decoy, atau string User-Agent spesifik.</a:t>
            </a:r>
          </a:p>
        </p:txBody>
      </p:sp>
      <p:sp>
        <p:nvSpPr>
          <p:cNvPr id="13" name="Rectangle 12"/>
          <p:cNvSpPr/>
          <p:nvPr/>
        </p:nvSpPr>
        <p:spPr>
          <a:xfrm>
            <a:off x="731520" y="3794760"/>
            <a:ext cx="10728655" cy="658368"/>
          </a:xfrm>
          <a:prstGeom prst="rect">
            <a:avLst/>
          </a:prstGeom>
          <a:solidFill>
            <a:srgbClr val="121826"/>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831336"/>
            <a:ext cx="10332720" cy="594360"/>
          </a:xfrm>
          <a:prstGeom prst="rect">
            <a:avLst/>
          </a:prstGeom>
          <a:noFill/>
        </p:spPr>
        <p:txBody>
          <a:bodyPr wrap="square">
            <a:spAutoFit/>
          </a:bodyPr>
          <a:lstStyle/>
          <a:p>
            <a:pPr>
              <a:defRPr sz="1050" b="1">
                <a:solidFill>
                  <a:srgbClr val="60A5FA"/>
                </a:solidFill>
                <a:latin typeface="Segoe UI"/>
              </a:defRPr>
            </a:pPr>
            <a:r>
              <a:t>Domain Names   |   BIAYA BAGI PENYERANG: RENDAH (SIMPLE)</a:t>
            </a:r>
          </a:p>
          <a:p>
            <a:pPr>
              <a:spcBef>
                <a:spcPts val="100"/>
              </a:spcBef>
              <a:defRPr sz="919">
                <a:solidFill>
                  <a:srgbClr val="F1F5F9"/>
                </a:solidFill>
                <a:latin typeface="Segoe UI"/>
              </a:defRPr>
            </a:pPr>
            <a:r>
              <a:t>Penyerang dapat dengan mudah mendaftarkan nama domain baru melalui registrar yang longgar dengan biaya murah.</a:t>
            </a:r>
          </a:p>
        </p:txBody>
      </p:sp>
      <p:sp>
        <p:nvSpPr>
          <p:cNvPr id="15" name="Rectangle 14"/>
          <p:cNvSpPr/>
          <p:nvPr/>
        </p:nvSpPr>
        <p:spPr>
          <a:xfrm>
            <a:off x="731520" y="4572000"/>
            <a:ext cx="10728655" cy="658368"/>
          </a:xfrm>
          <a:prstGeom prst="rect">
            <a:avLst/>
          </a:prstGeom>
          <a:solidFill>
            <a:srgbClr val="1218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608576"/>
            <a:ext cx="10332720" cy="594360"/>
          </a:xfrm>
          <a:prstGeom prst="rect">
            <a:avLst/>
          </a:prstGeom>
          <a:noFill/>
        </p:spPr>
        <p:txBody>
          <a:bodyPr wrap="square">
            <a:spAutoFit/>
          </a:bodyPr>
          <a:lstStyle/>
          <a:p>
            <a:pPr>
              <a:defRPr sz="1050" b="1">
                <a:solidFill>
                  <a:srgbClr val="38BDF8"/>
                </a:solidFill>
                <a:latin typeface="Segoe UI"/>
              </a:defRPr>
            </a:pPr>
            <a:r>
              <a:t>Alamat IP (IP Addresses)   |   BIAYA BAGI PENYERANG: SANGAT RENDAH (EASY)</a:t>
            </a:r>
          </a:p>
          <a:p>
            <a:pPr>
              <a:spcBef>
                <a:spcPts val="100"/>
              </a:spcBef>
              <a:defRPr sz="919">
                <a:solidFill>
                  <a:srgbClr val="F1F5F9"/>
                </a:solidFill>
                <a:latin typeface="Segoe UI"/>
              </a:defRPr>
            </a:pPr>
            <a:r>
              <a:t>Penyerang dapat dengan mudah berganti alamat IP publik melalui proxy komersial, VPS sekali pakai, atau node VPN.</a:t>
            </a:r>
          </a:p>
        </p:txBody>
      </p:sp>
      <p:sp>
        <p:nvSpPr>
          <p:cNvPr id="17" name="Rectangle 16"/>
          <p:cNvSpPr/>
          <p:nvPr/>
        </p:nvSpPr>
        <p:spPr>
          <a:xfrm>
            <a:off x="731520" y="5349240"/>
            <a:ext cx="10728655" cy="658368"/>
          </a:xfrm>
          <a:prstGeom prst="rect">
            <a:avLst/>
          </a:prstGeom>
          <a:solidFill>
            <a:srgbClr val="121826"/>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385816"/>
            <a:ext cx="10332720" cy="594360"/>
          </a:xfrm>
          <a:prstGeom prst="rect">
            <a:avLst/>
          </a:prstGeom>
          <a:noFill/>
        </p:spPr>
        <p:txBody>
          <a:bodyPr wrap="square">
            <a:spAutoFit/>
          </a:bodyPr>
          <a:lstStyle/>
          <a:p>
            <a:pPr>
              <a:defRPr sz="1050" b="1">
                <a:solidFill>
                  <a:srgbClr val="64748B"/>
                </a:solidFill>
                <a:latin typeface="Segoe UI"/>
              </a:defRPr>
            </a:pPr>
            <a:r>
              <a:t>Nilai Hash Kriptografis (MD5 / SHA-256)   |   BIAYA BAGI PENYERANG: TIDAK BERPENGARUH (TRIVIAL)</a:t>
            </a:r>
          </a:p>
          <a:p>
            <a:pPr>
              <a:spcBef>
                <a:spcPts val="100"/>
              </a:spcBef>
              <a:defRPr sz="919">
                <a:solidFill>
                  <a:srgbClr val="F1F5F9"/>
                </a:solidFill>
                <a:latin typeface="Segoe UI"/>
              </a:defRPr>
            </a:pPr>
            <a:r>
              <a:t>Menambahkan 1 karakter kosong (whitespace) pada kode malware akan mengubah seluruh nilai checksum hash berkas.</a:t>
            </a:r>
          </a:p>
        </p:txBody>
      </p:sp>
      <p:sp>
        <p:nvSpPr>
          <p:cNvPr id="19" name="TextBox 18"/>
          <p:cNvSpPr txBox="1"/>
          <p:nvPr/>
        </p:nvSpPr>
        <p:spPr>
          <a:xfrm>
            <a:off x="731520" y="6080760"/>
            <a:ext cx="10698480" cy="320040"/>
          </a:xfrm>
          <a:prstGeom prst="rect">
            <a:avLst/>
          </a:prstGeom>
          <a:noFill/>
        </p:spPr>
        <p:txBody>
          <a:bodyPr wrap="none">
            <a:spAutoFit/>
          </a:bodyPr>
          <a:lstStyle/>
          <a:p>
            <a:pPr>
              <a:defRPr sz="850" b="1">
                <a:solidFill>
                  <a:srgbClr val="FBBF24"/>
                </a:solidFill>
                <a:latin typeface="Segoe UI"/>
              </a:defRPr>
            </a:pPr>
            <a:r>
              <a:t>KESIMPULAN: Kebanyakan SOC menghabiskan 90% waktu memblokir Hash &amp; IP (Trivial/Easy), padahal nilai pertahanan tertinggi berada pada TTPs.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10728655" cy="12700"/>
          </a:xfrm>
          <a:prstGeom prst="rect">
            <a:avLst/>
          </a:prstGeom>
          <a:solidFill>
            <a:srgbClr val="28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00" b="1">
                <a:solidFill>
                  <a:srgbClr val="38BDF8"/>
                </a:solidFill>
                <a:latin typeface="Segoe UI"/>
              </a:defRPr>
            </a:pPr>
            <a:r>
              <a:t>TEKNOLOGI INTELIJEN MODERN</a:t>
            </a:r>
          </a:p>
        </p:txBody>
      </p:sp>
      <p:sp>
        <p:nvSpPr>
          <p:cNvPr id="5" name="TextBox 4"/>
          <p:cNvSpPr txBox="1"/>
          <p:nvPr/>
        </p:nvSpPr>
        <p:spPr>
          <a:xfrm>
            <a:off x="8229600" y="320040"/>
            <a:ext cx="3200400" cy="274320"/>
          </a:xfrm>
          <a:prstGeom prst="rect">
            <a:avLst/>
          </a:prstGeom>
          <a:noFill/>
        </p:spPr>
        <p:txBody>
          <a:bodyPr wrap="none">
            <a:spAutoFit/>
          </a:bodyPr>
          <a:lstStyle/>
          <a:p>
            <a:pPr algn="r">
              <a:defRPr sz="850" b="1">
                <a:solidFill>
                  <a:srgbClr val="64748B"/>
                </a:solidFill>
                <a:latin typeface="Segoe UI"/>
              </a:defRPr>
            </a:pPr>
            <a:r>
              <a:t>TLP:CLEAR  //  THREAT INTEL BRIEFING</a:t>
            </a:r>
          </a:p>
        </p:txBody>
      </p:sp>
      <p:sp>
        <p:nvSpPr>
          <p:cNvPr id="6" name="TextBox 5"/>
          <p:cNvSpPr txBox="1"/>
          <p:nvPr/>
        </p:nvSpPr>
        <p:spPr>
          <a:xfrm>
            <a:off x="731520" y="548640"/>
            <a:ext cx="10728655" cy="594360"/>
          </a:xfrm>
          <a:prstGeom prst="rect">
            <a:avLst/>
          </a:prstGeom>
          <a:noFill/>
        </p:spPr>
        <p:txBody>
          <a:bodyPr wrap="square">
            <a:spAutoFit/>
          </a:bodyPr>
          <a:lstStyle/>
          <a:p>
            <a:pPr>
              <a:defRPr sz="2000" b="1">
                <a:solidFill>
                  <a:srgbClr val="F1F5F9"/>
                </a:solidFill>
                <a:latin typeface="Segoe UI"/>
              </a:defRPr>
            </a:pPr>
            <a:r>
              <a:t>Active Defense: Mengubah Jebakan Deception Menjadi Sumber Intelijen Berkualitas Tinggi</a:t>
            </a:r>
          </a:p>
        </p:txBody>
      </p:sp>
      <p:sp>
        <p:nvSpPr>
          <p:cNvPr id="7" name="Rectangle 6"/>
          <p:cNvSpPr/>
          <p:nvPr/>
        </p:nvSpPr>
        <p:spPr>
          <a:xfrm>
            <a:off x="731520" y="1463040"/>
            <a:ext cx="5120640" cy="4846320"/>
          </a:xfrm>
          <a:prstGeom prst="rect">
            <a:avLst/>
          </a:prstGeom>
          <a:solidFill>
            <a:srgbClr val="121826"/>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480560"/>
          </a:xfrm>
          <a:prstGeom prst="rect">
            <a:avLst/>
          </a:prstGeom>
          <a:noFill/>
        </p:spPr>
        <p:txBody>
          <a:bodyPr wrap="square">
            <a:spAutoFit/>
          </a:bodyPr>
          <a:lstStyle/>
          <a:p>
            <a:pPr>
              <a:defRPr sz="1100" b="1">
                <a:solidFill>
                  <a:srgbClr val="38BDF8"/>
                </a:solidFill>
                <a:latin typeface="Segoe UI"/>
              </a:defRPr>
            </a:pPr>
            <a:r>
              <a:t>ARSITEKTUR DECEPTION &amp; TRIPWIRE</a:t>
            </a:r>
          </a:p>
          <a:p>
            <a:pPr>
              <a:spcBef>
                <a:spcPts val="1400"/>
              </a:spcBef>
              <a:defRPr sz="1150" b="1">
                <a:solidFill>
                  <a:srgbClr val="F1F5F9"/>
                </a:solidFill>
                <a:latin typeface="Segoe UI"/>
              </a:defRPr>
            </a:pPr>
            <a:r>
              <a:t>Penyebaran Honeytoken</a:t>
            </a:r>
          </a:p>
          <a:p>
            <a:pPr>
              <a:spcBef>
                <a:spcPts val="300"/>
              </a:spcBef>
              <a:defRPr sz="1000">
                <a:solidFill>
                  <a:srgbClr val="94A3B8"/>
                </a:solidFill>
                <a:latin typeface="Segoe UI"/>
              </a:defRPr>
            </a:pPr>
            <a:r>
              <a:t>Menempatkan kredensial palsu (misal API key atau akun service palsu) dan dokumen umpan pada titik strategis yang tidak memiliki aktivitas operasional sah.</a:t>
            </a:r>
          </a:p>
          <a:p>
            <a:pPr>
              <a:spcBef>
                <a:spcPts val="1400"/>
              </a:spcBef>
              <a:defRPr sz="1150" b="1">
                <a:solidFill>
                  <a:srgbClr val="F1F5F9"/>
                </a:solidFill>
                <a:latin typeface="Segoe UI"/>
              </a:defRPr>
            </a:pPr>
            <a:r>
              <a:t>Tingkat Kepastian 100% (Zero False Positive)</a:t>
            </a:r>
          </a:p>
          <a:p>
            <a:pPr>
              <a:spcBef>
                <a:spcPts val="300"/>
              </a:spcBef>
              <a:defRPr sz="1000">
                <a:solidFill>
                  <a:srgbClr val="94A3B8"/>
                </a:solidFill>
                <a:latin typeface="Segoe UI"/>
              </a:defRPr>
            </a:pPr>
            <a:r>
              <a:t>Pengguna legal dan sistem produksi tidak memiliki alasan untuk mengakses aset jebakan. Akses apa pun langsung membuktikan adanya anomali atau intrusi.</a:t>
            </a:r>
          </a:p>
          <a:p>
            <a:pPr>
              <a:spcBef>
                <a:spcPts val="1400"/>
              </a:spcBef>
              <a:defRPr sz="1150" b="1">
                <a:solidFill>
                  <a:srgbClr val="F1F5F9"/>
                </a:solidFill>
                <a:latin typeface="Segoe UI"/>
              </a:defRPr>
            </a:pPr>
            <a:r>
              <a:t>Mengukur Waktu Dwell Time Musuh</a:t>
            </a:r>
          </a:p>
          <a:p>
            <a:pPr>
              <a:spcBef>
                <a:spcPts val="300"/>
              </a:spcBef>
              <a:defRPr sz="1000">
                <a:solidFill>
                  <a:srgbClr val="94A3B8"/>
                </a:solidFill>
                <a:latin typeface="Segoe UI"/>
              </a:defRPr>
            </a:pPr>
            <a:r>
              <a:t>Memberikan visibilitas instan terhadap kehadiran penyerang sebelum mereka berhasil menemukan dan mengeksfiltrasi data produksi riil.</a:t>
            </a:r>
          </a:p>
        </p:txBody>
      </p:sp>
      <p:sp>
        <p:nvSpPr>
          <p:cNvPr id="9" name="Rectangle 8"/>
          <p:cNvSpPr/>
          <p:nvPr/>
        </p:nvSpPr>
        <p:spPr>
          <a:xfrm>
            <a:off x="6217920" y="1463040"/>
            <a:ext cx="5212080" cy="4846320"/>
          </a:xfrm>
          <a:prstGeom prst="rect">
            <a:avLst/>
          </a:prstGeom>
          <a:solidFill>
            <a:srgbClr val="121826"/>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480560"/>
          </a:xfrm>
          <a:prstGeom prst="rect">
            <a:avLst/>
          </a:prstGeom>
          <a:noFill/>
        </p:spPr>
        <p:txBody>
          <a:bodyPr wrap="square">
            <a:spAutoFit/>
          </a:bodyPr>
          <a:lstStyle/>
          <a:p>
            <a:pPr>
              <a:defRPr sz="1100" b="1">
                <a:solidFill>
                  <a:srgbClr val="34D399"/>
                </a:solidFill>
                <a:latin typeface="Segoe UI"/>
              </a:defRPr>
            </a:pPr>
            <a:r>
              <a:t>NILAI INTELIJEN LANGSUNG BAGI SOC</a:t>
            </a:r>
          </a:p>
          <a:p>
            <a:pPr>
              <a:spcBef>
                <a:spcPts val="1400"/>
              </a:spcBef>
              <a:defRPr sz="1150" b="1">
                <a:solidFill>
                  <a:srgbClr val="F1F5F9"/>
                </a:solidFill>
                <a:latin typeface="Segoe UI"/>
              </a:defRPr>
            </a:pPr>
            <a:r>
              <a:t>Observasi Taktik Langsung (In-Situ Observation)</a:t>
            </a:r>
          </a:p>
          <a:p>
            <a:pPr>
              <a:spcBef>
                <a:spcPts val="300"/>
              </a:spcBef>
              <a:defRPr sz="1000">
                <a:solidFill>
                  <a:srgbClr val="94A3B8"/>
                </a:solidFill>
                <a:latin typeface="Segoe UI"/>
              </a:defRPr>
            </a:pPr>
            <a:r>
              <a:t>Mengamati bagaimana penyerang berinteraksi dengan server umpan: perintah terminal apa yang diketik, alat apa yang diunduh, dan apa target berikutnya.</a:t>
            </a:r>
          </a:p>
          <a:p>
            <a:pPr>
              <a:spcBef>
                <a:spcPts val="1400"/>
              </a:spcBef>
              <a:defRPr sz="1150" b="1">
                <a:solidFill>
                  <a:srgbClr val="F1F5F9"/>
                </a:solidFill>
                <a:latin typeface="Segoe UI"/>
              </a:defRPr>
            </a:pPr>
            <a:r>
              <a:t>Membalikkan Keuntungan Asimetri</a:t>
            </a:r>
          </a:p>
          <a:p>
            <a:pPr>
              <a:spcBef>
                <a:spcPts val="300"/>
              </a:spcBef>
              <a:defRPr sz="1000">
                <a:solidFill>
                  <a:srgbClr val="94A3B8"/>
                </a:solidFill>
                <a:latin typeface="Segoe UI"/>
              </a:defRPr>
            </a:pPr>
            <a:r>
              <a:t>Penyerang terpaksa menghabiskan waktu dan sumber daya pada sistem decoy, sementara tim bertahan mendapatkan waktu untuk isolasi dan analisis.</a:t>
            </a:r>
          </a:p>
          <a:p>
            <a:pPr>
              <a:spcBef>
                <a:spcPts val="1400"/>
              </a:spcBef>
              <a:defRPr sz="1150" b="1">
                <a:solidFill>
                  <a:srgbClr val="F1F5F9"/>
                </a:solidFill>
                <a:latin typeface="Segoe UI"/>
              </a:defRPr>
            </a:pPr>
            <a:r>
              <a:t>Penghasil Indikator Kredibel (High-Fidelity IOC)</a:t>
            </a:r>
          </a:p>
          <a:p>
            <a:pPr>
              <a:spcBef>
                <a:spcPts val="300"/>
              </a:spcBef>
              <a:defRPr sz="1000">
                <a:solidFill>
                  <a:srgbClr val="94A3B8"/>
                </a:solidFill>
                <a:latin typeface="Segoe UI"/>
              </a:defRPr>
            </a:pPr>
            <a:r>
              <a:t>Semua hash, IP, dan domain yang diekstraksi dari honeypot terkonfirmasi jahat tanpa keraguan, memungkinkan blokir otomatis secara instan.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10728655" cy="12700"/>
          </a:xfrm>
          <a:prstGeom prst="rect">
            <a:avLst/>
          </a:prstGeom>
          <a:solidFill>
            <a:srgbClr val="28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00" b="1">
                <a:solidFill>
                  <a:srgbClr val="38BDF8"/>
                </a:solidFill>
                <a:latin typeface="Segoe UI"/>
              </a:defRPr>
            </a:pPr>
            <a:r>
              <a:t>INVESTIGASI FORENSIK</a:t>
            </a:r>
          </a:p>
        </p:txBody>
      </p:sp>
      <p:sp>
        <p:nvSpPr>
          <p:cNvPr id="5" name="TextBox 4"/>
          <p:cNvSpPr txBox="1"/>
          <p:nvPr/>
        </p:nvSpPr>
        <p:spPr>
          <a:xfrm>
            <a:off x="8229600" y="320040"/>
            <a:ext cx="3200400" cy="274320"/>
          </a:xfrm>
          <a:prstGeom prst="rect">
            <a:avLst/>
          </a:prstGeom>
          <a:noFill/>
        </p:spPr>
        <p:txBody>
          <a:bodyPr wrap="none">
            <a:spAutoFit/>
          </a:bodyPr>
          <a:lstStyle/>
          <a:p>
            <a:pPr algn="r">
              <a:defRPr sz="850" b="1">
                <a:solidFill>
                  <a:srgbClr val="64748B"/>
                </a:solidFill>
                <a:latin typeface="Segoe UI"/>
              </a:defRPr>
            </a:pPr>
            <a:r>
              <a:t>TLP:CLEAR  //  THREAT INTEL BRIEFING</a:t>
            </a:r>
          </a:p>
        </p:txBody>
      </p:sp>
      <p:sp>
        <p:nvSpPr>
          <p:cNvPr id="6" name="TextBox 5"/>
          <p:cNvSpPr txBox="1"/>
          <p:nvPr/>
        </p:nvSpPr>
        <p:spPr>
          <a:xfrm>
            <a:off x="731520" y="548640"/>
            <a:ext cx="10728655" cy="594360"/>
          </a:xfrm>
          <a:prstGeom prst="rect">
            <a:avLst/>
          </a:prstGeom>
          <a:noFill/>
        </p:spPr>
        <p:txBody>
          <a:bodyPr wrap="square">
            <a:spAutoFit/>
          </a:bodyPr>
          <a:lstStyle/>
          <a:p>
            <a:pPr>
              <a:defRPr sz="2000" b="1">
                <a:solidFill>
                  <a:srgbClr val="F1F5F9"/>
                </a:solidFill>
                <a:latin typeface="Segoe UI"/>
              </a:defRPr>
            </a:pPr>
            <a:r>
              <a:t>Metodologi Atribusi &amp; De-Anonymization: Membongkar Kamuflase Penyerang</a:t>
            </a:r>
          </a:p>
        </p:txBody>
      </p:sp>
      <p:sp>
        <p:nvSpPr>
          <p:cNvPr id="7" name="Rectangle 6"/>
          <p:cNvSpPr/>
          <p:nvPr/>
        </p:nvSpPr>
        <p:spPr>
          <a:xfrm>
            <a:off x="731520" y="1463040"/>
            <a:ext cx="5212080" cy="2103120"/>
          </a:xfrm>
          <a:prstGeom prst="rect">
            <a:avLst/>
          </a:prstGeom>
          <a:solidFill>
            <a:srgbClr val="1218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72768"/>
            <a:ext cx="4937760" cy="1874519"/>
          </a:xfrm>
          <a:prstGeom prst="rect">
            <a:avLst/>
          </a:prstGeom>
          <a:noFill/>
        </p:spPr>
        <p:txBody>
          <a:bodyPr wrap="square">
            <a:spAutoFit/>
          </a:bodyPr>
          <a:lstStyle/>
          <a:p>
            <a:pPr>
              <a:defRPr sz="1100" b="1">
                <a:solidFill>
                  <a:srgbClr val="38BDF8"/>
                </a:solidFill>
                <a:latin typeface="Segoe UI"/>
              </a:defRPr>
            </a:pPr>
            <a:r>
              <a:t>01. KEBOCORAN PROTOKOL WEBRTC</a:t>
            </a:r>
          </a:p>
          <a:p>
            <a:pPr>
              <a:spcBef>
                <a:spcPts val="200"/>
              </a:spcBef>
              <a:defRPr sz="950" b="1">
                <a:solidFill>
                  <a:srgbClr val="F1F5F9"/>
                </a:solidFill>
                <a:latin typeface="Segoe UI"/>
              </a:defRPr>
            </a:pPr>
            <a:r>
              <a:t>Membongkar IP Asli di Balik VPN</a:t>
            </a:r>
          </a:p>
          <a:p>
            <a:pPr>
              <a:spcBef>
                <a:spcPts val="600"/>
              </a:spcBef>
              <a:defRPr sz="919">
                <a:solidFill>
                  <a:srgbClr val="94A3B8"/>
                </a:solidFill>
                <a:latin typeface="Segoe UI"/>
              </a:defRPr>
            </a:pPr>
            <a:r>
              <a:t>Penyerang sering menggunakan proxy komersial atau VPN. Melalui sesi WebRTC yang sah, browser dapat mengekstrak host candidate yang mengungkap IP internal LAN penyerang atau alamat publik sekunder yang tidak terproteksi VPN.</a:t>
            </a:r>
          </a:p>
        </p:txBody>
      </p:sp>
      <p:sp>
        <p:nvSpPr>
          <p:cNvPr id="9" name="Rectangle 8"/>
          <p:cNvSpPr/>
          <p:nvPr/>
        </p:nvSpPr>
        <p:spPr>
          <a:xfrm>
            <a:off x="6217920" y="1463040"/>
            <a:ext cx="5212080" cy="2103120"/>
          </a:xfrm>
          <a:prstGeom prst="rect">
            <a:avLst/>
          </a:prstGeom>
          <a:solidFill>
            <a:srgbClr val="121826"/>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572768"/>
            <a:ext cx="4937760" cy="1874519"/>
          </a:xfrm>
          <a:prstGeom prst="rect">
            <a:avLst/>
          </a:prstGeom>
          <a:noFill/>
        </p:spPr>
        <p:txBody>
          <a:bodyPr wrap="square">
            <a:spAutoFit/>
          </a:bodyPr>
          <a:lstStyle/>
          <a:p>
            <a:pPr>
              <a:defRPr sz="1100" b="1">
                <a:solidFill>
                  <a:srgbClr val="60A5FA"/>
                </a:solidFill>
                <a:latin typeface="Segoe UI"/>
              </a:defRPr>
            </a:pPr>
            <a:r>
              <a:t>02. SIDIK JARI LAPISAN JARINGAN (L4)</a:t>
            </a:r>
          </a:p>
          <a:p>
            <a:pPr>
              <a:spcBef>
                <a:spcPts val="200"/>
              </a:spcBef>
              <a:defRPr sz="950" b="1">
                <a:solidFill>
                  <a:srgbClr val="F1F5F9"/>
                </a:solidFill>
                <a:latin typeface="Segoe UI"/>
              </a:defRPr>
            </a:pPr>
            <a:r>
              <a:t>Fingerprinting Stack TCP / SYN</a:t>
            </a:r>
          </a:p>
          <a:p>
            <a:pPr>
              <a:spcBef>
                <a:spcPts val="600"/>
              </a:spcBef>
              <a:defRPr sz="919">
                <a:solidFill>
                  <a:srgbClr val="94A3B8"/>
                </a:solidFill>
                <a:latin typeface="Segoe UI"/>
              </a:defRPr>
            </a:pPr>
            <a:r>
              <a:t>Karakteristik paket SYN awal (kombinasi TTL, Window Size, urutan TCP Options, dan ukuran MSS) membentuk tanda khas sistem operasi atau alat scanning khusus (misalnya Nmap, Masscan, atau Go-custom scanner).</a:t>
            </a:r>
          </a:p>
        </p:txBody>
      </p:sp>
      <p:sp>
        <p:nvSpPr>
          <p:cNvPr id="11" name="Rectangle 10"/>
          <p:cNvSpPr/>
          <p:nvPr/>
        </p:nvSpPr>
        <p:spPr>
          <a:xfrm>
            <a:off x="731520" y="3749039"/>
            <a:ext cx="5212080" cy="2103120"/>
          </a:xfrm>
          <a:prstGeom prst="rect">
            <a:avLst/>
          </a:prstGeom>
          <a:solidFill>
            <a:srgbClr val="121826"/>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858767"/>
            <a:ext cx="4937760" cy="1874519"/>
          </a:xfrm>
          <a:prstGeom prst="rect">
            <a:avLst/>
          </a:prstGeom>
          <a:noFill/>
        </p:spPr>
        <p:txBody>
          <a:bodyPr wrap="square">
            <a:spAutoFit/>
          </a:bodyPr>
          <a:lstStyle/>
          <a:p>
            <a:pPr>
              <a:defRPr sz="1100" b="1">
                <a:solidFill>
                  <a:srgbClr val="FBBF24"/>
                </a:solidFill>
                <a:latin typeface="Segoe UI"/>
              </a:defRPr>
            </a:pPr>
            <a:r>
              <a:t>03. METADATA &amp; ARTEFAK DOKUMEN</a:t>
            </a:r>
          </a:p>
          <a:p>
            <a:pPr>
              <a:spcBef>
                <a:spcPts val="200"/>
              </a:spcBef>
              <a:defRPr sz="950" b="1">
                <a:solidFill>
                  <a:srgbClr val="F1F5F9"/>
                </a:solidFill>
                <a:latin typeface="Segoe UI"/>
              </a:defRPr>
            </a:pPr>
            <a:r>
              <a:t>Jejak Lingkungan Pengembangan</a:t>
            </a:r>
          </a:p>
          <a:p>
            <a:pPr>
              <a:spcBef>
                <a:spcPts val="600"/>
              </a:spcBef>
              <a:defRPr sz="919">
                <a:solidFill>
                  <a:srgbClr val="94A3B8"/>
                </a:solidFill>
                <a:latin typeface="Segoe UI"/>
              </a:defRPr>
            </a:pPr>
            <a:r>
              <a:t>Analisis forensik terhadap berkas yang ditinggalkan: author name dokumen Office, jalur kompilasi debug (PDB path), locale bahasa keyboard, serta timestamp zona waktu sistem penyerang.</a:t>
            </a:r>
          </a:p>
        </p:txBody>
      </p:sp>
      <p:sp>
        <p:nvSpPr>
          <p:cNvPr id="13" name="Rectangle 12"/>
          <p:cNvSpPr/>
          <p:nvPr/>
        </p:nvSpPr>
        <p:spPr>
          <a:xfrm>
            <a:off x="6217920" y="3749039"/>
            <a:ext cx="5212080" cy="2103120"/>
          </a:xfrm>
          <a:prstGeom prst="rect">
            <a:avLst/>
          </a:prstGeom>
          <a:solidFill>
            <a:srgbClr val="1218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858767"/>
            <a:ext cx="4937760" cy="1874519"/>
          </a:xfrm>
          <a:prstGeom prst="rect">
            <a:avLst/>
          </a:prstGeom>
          <a:noFill/>
        </p:spPr>
        <p:txBody>
          <a:bodyPr wrap="square">
            <a:spAutoFit/>
          </a:bodyPr>
          <a:lstStyle/>
          <a:p>
            <a:pPr>
              <a:defRPr sz="1100" b="1">
                <a:solidFill>
                  <a:srgbClr val="34D399"/>
                </a:solidFill>
                <a:latin typeface="Segoe UI"/>
              </a:defRPr>
            </a:pPr>
            <a:r>
              <a:t>04. SINKRONISASI CANARY BEACON</a:t>
            </a:r>
          </a:p>
          <a:p>
            <a:pPr>
              <a:spcBef>
                <a:spcPts val="200"/>
              </a:spcBef>
              <a:defRPr sz="950" b="1">
                <a:solidFill>
                  <a:srgbClr val="F1F5F9"/>
                </a:solidFill>
                <a:latin typeface="Segoe UI"/>
              </a:defRPr>
            </a:pPr>
            <a:r>
              <a:t>Mengeksploitasi Kesalahan Operasional (OPSEC)</a:t>
            </a:r>
          </a:p>
          <a:p>
            <a:pPr>
              <a:spcBef>
                <a:spcPts val="600"/>
              </a:spcBef>
              <a:defRPr sz="919">
                <a:solidFill>
                  <a:srgbClr val="94A3B8"/>
                </a:solidFill>
                <a:latin typeface="Segoe UI"/>
              </a:defRPr>
            </a:pPr>
            <a:r>
              <a:t>Ketika penyerang mengunduh dokumen canary lewat VPN, lalu memindahkannya dan membukanya pada komputer kerja lokal tanpa VPN aktif, beacon rahasia akan menembak ke server atribusi dan membongkar identitas jaringan aslinya.</a:t>
            </a:r>
          </a:p>
        </p:txBody>
      </p:sp>
      <p:sp>
        <p:nvSpPr>
          <p:cNvPr id="15" name="Rectangle 14"/>
          <p:cNvSpPr/>
          <p:nvPr/>
        </p:nvSpPr>
        <p:spPr>
          <a:xfrm>
            <a:off x="731520" y="5989320"/>
            <a:ext cx="10698480" cy="411480"/>
          </a:xfrm>
          <a:prstGeom prst="rect">
            <a:avLst/>
          </a:prstGeom>
          <a:solidFill>
            <a:srgbClr val="182032"/>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6016752"/>
            <a:ext cx="10332720" cy="365760"/>
          </a:xfrm>
          <a:prstGeom prst="rect">
            <a:avLst/>
          </a:prstGeom>
          <a:noFill/>
        </p:spPr>
        <p:txBody>
          <a:bodyPr wrap="none">
            <a:spAutoFit/>
          </a:bodyPr>
          <a:lstStyle/>
          <a:p>
            <a:pPr>
              <a:defRPr sz="850" b="1">
                <a:solidFill>
                  <a:srgbClr val="64748B"/>
                </a:solidFill>
                <a:latin typeface="Segoe UI"/>
              </a:defRPr>
            </a:pPr>
            <a:r>
              <a:t>PRINSIP FORENSIK: Atribusi bukanlah tebakan tunggal, melainkan akumulasi korelasi teknis dari berbagai lapisan (L4 hingga L7) yang saling menguatkan bukti hukum.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10728655" cy="12700"/>
          </a:xfrm>
          <a:prstGeom prst="rect">
            <a:avLst/>
          </a:prstGeom>
          <a:solidFill>
            <a:srgbClr val="28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00" b="1">
                <a:solidFill>
                  <a:srgbClr val="38BDF8"/>
                </a:solidFill>
                <a:latin typeface="Segoe UI"/>
              </a:defRPr>
            </a:pPr>
            <a:r>
              <a:t>INTEROPERABILITAS INDUSTRI</a:t>
            </a:r>
          </a:p>
        </p:txBody>
      </p:sp>
      <p:sp>
        <p:nvSpPr>
          <p:cNvPr id="5" name="TextBox 4"/>
          <p:cNvSpPr txBox="1"/>
          <p:nvPr/>
        </p:nvSpPr>
        <p:spPr>
          <a:xfrm>
            <a:off x="8229600" y="320040"/>
            <a:ext cx="3200400" cy="274320"/>
          </a:xfrm>
          <a:prstGeom prst="rect">
            <a:avLst/>
          </a:prstGeom>
          <a:noFill/>
        </p:spPr>
        <p:txBody>
          <a:bodyPr wrap="none">
            <a:spAutoFit/>
          </a:bodyPr>
          <a:lstStyle/>
          <a:p>
            <a:pPr algn="r">
              <a:defRPr sz="850" b="1">
                <a:solidFill>
                  <a:srgbClr val="64748B"/>
                </a:solidFill>
                <a:latin typeface="Segoe UI"/>
              </a:defRPr>
            </a:pPr>
            <a:r>
              <a:t>TLP:CLEAR  //  THREAT INTEL BRIEFING</a:t>
            </a:r>
          </a:p>
        </p:txBody>
      </p:sp>
      <p:sp>
        <p:nvSpPr>
          <p:cNvPr id="6" name="TextBox 5"/>
          <p:cNvSpPr txBox="1"/>
          <p:nvPr/>
        </p:nvSpPr>
        <p:spPr>
          <a:xfrm>
            <a:off x="731520" y="548640"/>
            <a:ext cx="10728655" cy="594360"/>
          </a:xfrm>
          <a:prstGeom prst="rect">
            <a:avLst/>
          </a:prstGeom>
          <a:noFill/>
        </p:spPr>
        <p:txBody>
          <a:bodyPr wrap="square">
            <a:spAutoFit/>
          </a:bodyPr>
          <a:lstStyle/>
          <a:p>
            <a:pPr>
              <a:defRPr sz="2000" b="1">
                <a:solidFill>
                  <a:srgbClr val="F1F5F9"/>
                </a:solidFill>
                <a:latin typeface="Segoe UI"/>
              </a:defRPr>
            </a:pPr>
            <a:r>
              <a:t>Standardisasi Berbagi Intelijen: Kerangka STIX 2.1 dan Protokol Transportasi TAXII</a:t>
            </a:r>
          </a:p>
        </p:txBody>
      </p:sp>
      <p:sp>
        <p:nvSpPr>
          <p:cNvPr id="7" name="Rectangle 6"/>
          <p:cNvSpPr/>
          <p:nvPr/>
        </p:nvSpPr>
        <p:spPr>
          <a:xfrm>
            <a:off x="731520" y="1463040"/>
            <a:ext cx="5120640" cy="4846320"/>
          </a:xfrm>
          <a:prstGeom prst="rect">
            <a:avLst/>
          </a:prstGeom>
          <a:solidFill>
            <a:srgbClr val="121826"/>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4754880" cy="4480560"/>
          </a:xfrm>
          <a:prstGeom prst="rect">
            <a:avLst/>
          </a:prstGeom>
          <a:noFill/>
        </p:spPr>
        <p:txBody>
          <a:bodyPr wrap="square">
            <a:spAutoFit/>
          </a:bodyPr>
          <a:lstStyle/>
          <a:p>
            <a:pPr>
              <a:defRPr sz="1100" b="1">
                <a:solidFill>
                  <a:srgbClr val="38BDF8"/>
                </a:solidFill>
                <a:latin typeface="Segoe UI"/>
              </a:defRPr>
            </a:pPr>
            <a:r>
              <a:t>STIX 2.1 (STRUKTUR DATA INTELIJEN)</a:t>
            </a:r>
          </a:p>
          <a:p>
            <a:pPr>
              <a:spcBef>
                <a:spcPts val="1400"/>
              </a:spcBef>
              <a:defRPr sz="1100" b="1">
                <a:solidFill>
                  <a:srgbClr val="F1F5F9"/>
                </a:solidFill>
                <a:latin typeface="Segoe UI"/>
              </a:defRPr>
            </a:pPr>
            <a:r>
              <a:t>Format Graf Berbasis Objek (JSON)</a:t>
            </a:r>
          </a:p>
          <a:p>
            <a:pPr>
              <a:spcBef>
                <a:spcPts val="300"/>
              </a:spcBef>
              <a:defRPr sz="950">
                <a:solidFill>
                  <a:srgbClr val="94A3B8"/>
                </a:solidFill>
                <a:latin typeface="Segoe UI"/>
              </a:defRPr>
            </a:pPr>
            <a:r>
              <a:t>Structured Threat Information Expression (STIX) mendefinisikan bahasa standar yang merepresentasikan relasi ancaman dalam bentuk graf.</a:t>
            </a:r>
          </a:p>
          <a:p>
            <a:pPr>
              <a:spcBef>
                <a:spcPts val="1400"/>
              </a:spcBef>
              <a:defRPr sz="1100" b="1">
                <a:solidFill>
                  <a:srgbClr val="F1F5F9"/>
                </a:solidFill>
                <a:latin typeface="Segoe UI"/>
              </a:defRPr>
            </a:pPr>
            <a:r>
              <a:t>Entitas Kunci (SDO / SRO):</a:t>
            </a:r>
          </a:p>
          <a:p>
            <a:pPr>
              <a:spcBef>
                <a:spcPts val="300"/>
              </a:spcBef>
              <a:defRPr sz="950">
                <a:solidFill>
                  <a:srgbClr val="94A3B8"/>
                </a:solidFill>
                <a:latin typeface="Segoe UI"/>
              </a:defRPr>
            </a:pPr>
            <a:r>
              <a:t>• Threat-Actor: Siapa dalang penyerangan</a:t>
            </a:r>
            <a:br/>
            <a:r>
              <a:t>• Attack-Pattern: Taktik &amp; teknik MITRE ATT&amp;CK</a:t>
            </a:r>
            <a:br/>
            <a:r>
              <a:t>• Indicator: Alamat IP, hash, pola regex pendeteksi</a:t>
            </a:r>
            <a:br/>
            <a:r>
              <a:t>• Relationship: Menghubungkan aktor -&gt; teknik -&gt; indikator</a:t>
            </a:r>
          </a:p>
          <a:p>
            <a:pPr>
              <a:spcBef>
                <a:spcPts val="1400"/>
              </a:spcBef>
              <a:defRPr sz="1100" b="1">
                <a:solidFill>
                  <a:srgbClr val="F1F5F9"/>
                </a:solidFill>
                <a:latin typeface="Segoe UI"/>
              </a:defRPr>
            </a:pPr>
            <a:r>
              <a:t>Manfaat Bagi Ekosistem:</a:t>
            </a:r>
          </a:p>
          <a:p>
            <a:pPr>
              <a:spcBef>
                <a:spcPts val="300"/>
              </a:spcBef>
              <a:defRPr sz="950">
                <a:solidFill>
                  <a:srgbClr val="94A3B8"/>
                </a:solidFill>
                <a:latin typeface="Segoe UI"/>
              </a:defRPr>
            </a:pPr>
            <a:r>
              <a:t>Menghilangkan ambiguitas laporan manual berbasis PDF dan memungkinkan integrasi data antar produk keamanan yang berbeda vendor.</a:t>
            </a:r>
          </a:p>
        </p:txBody>
      </p:sp>
      <p:sp>
        <p:nvSpPr>
          <p:cNvPr id="9" name="Rectangle 8"/>
          <p:cNvSpPr/>
          <p:nvPr/>
        </p:nvSpPr>
        <p:spPr>
          <a:xfrm>
            <a:off x="6217920" y="1463040"/>
            <a:ext cx="5212080" cy="4846320"/>
          </a:xfrm>
          <a:prstGeom prst="rect">
            <a:avLst/>
          </a:prstGeom>
          <a:solidFill>
            <a:srgbClr val="121826"/>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45920"/>
            <a:ext cx="4846320" cy="4480560"/>
          </a:xfrm>
          <a:prstGeom prst="rect">
            <a:avLst/>
          </a:prstGeom>
          <a:noFill/>
        </p:spPr>
        <p:txBody>
          <a:bodyPr wrap="square">
            <a:spAutoFit/>
          </a:bodyPr>
          <a:lstStyle/>
          <a:p>
            <a:pPr>
              <a:defRPr sz="1100" b="1">
                <a:solidFill>
                  <a:srgbClr val="C084FC"/>
                </a:solidFill>
                <a:latin typeface="Segoe UI"/>
              </a:defRPr>
            </a:pPr>
            <a:r>
              <a:t>TAXII 2.1 (PROTOKOL PENGIRIMAN AMAN)</a:t>
            </a:r>
          </a:p>
          <a:p>
            <a:pPr>
              <a:spcBef>
                <a:spcPts val="1400"/>
              </a:spcBef>
              <a:defRPr sz="1100" b="1">
                <a:solidFill>
                  <a:srgbClr val="F1F5F9"/>
                </a:solidFill>
                <a:latin typeface="Segoe UI"/>
              </a:defRPr>
            </a:pPr>
            <a:r>
              <a:t>Transport Berbasis HTTPS REST API</a:t>
            </a:r>
          </a:p>
          <a:p>
            <a:pPr>
              <a:spcBef>
                <a:spcPts val="300"/>
              </a:spcBef>
              <a:defRPr sz="950">
                <a:solidFill>
                  <a:srgbClr val="94A3B8"/>
                </a:solidFill>
                <a:latin typeface="Segoe UI"/>
              </a:defRPr>
            </a:pPr>
            <a:r>
              <a:t>Trusted Automated Exchange of Intelligence Information (TAXII) adalah protokol pengangkutan pesan STIX secara terenkripsi.</a:t>
            </a:r>
          </a:p>
          <a:p>
            <a:pPr>
              <a:spcBef>
                <a:spcPts val="1400"/>
              </a:spcBef>
              <a:defRPr sz="1100" b="1">
                <a:solidFill>
                  <a:srgbClr val="F1F5F9"/>
                </a:solidFill>
                <a:latin typeface="Segoe UI"/>
              </a:defRPr>
            </a:pPr>
            <a:r>
              <a:t>Dua Model Pertukaran:</a:t>
            </a:r>
          </a:p>
          <a:p>
            <a:pPr>
              <a:spcBef>
                <a:spcPts val="300"/>
              </a:spcBef>
              <a:defRPr sz="950">
                <a:solidFill>
                  <a:srgbClr val="94A3B8"/>
                </a:solidFill>
                <a:latin typeface="Segoe UI"/>
              </a:defRPr>
            </a:pPr>
            <a:r>
              <a:t>• Channel Model: Siaran pub/sub satu arah dari penyedia feed ke pelanggan</a:t>
            </a:r>
            <a:br/>
            <a:r>
              <a:t>• Collection Model: Repositori dua arah di mana anggota komunitas saling mengunggah dan menarik berkas intelijen</a:t>
            </a:r>
          </a:p>
          <a:p>
            <a:pPr>
              <a:spcBef>
                <a:spcPts val="1400"/>
              </a:spcBef>
              <a:defRPr sz="1100" b="1">
                <a:solidFill>
                  <a:srgbClr val="F1F5F9"/>
                </a:solidFill>
                <a:latin typeface="Segoe UI"/>
              </a:defRPr>
            </a:pPr>
            <a:r>
              <a:t>Konektivitas Kolaboratif Sektor Finansial &amp; BSSN:</a:t>
            </a:r>
          </a:p>
          <a:p>
            <a:pPr>
              <a:spcBef>
                <a:spcPts val="300"/>
              </a:spcBef>
              <a:defRPr sz="950">
                <a:solidFill>
                  <a:srgbClr val="94A3B8"/>
                </a:solidFill>
                <a:latin typeface="Segoe UI"/>
              </a:defRPr>
            </a:pPr>
            <a:r>
              <a:t>Memungkinkan bank, badan siber pemerintah, dan industri saling bertukar ancaman terbaru dalam waktu sub-detik secara otomatis tanpa intervensi manual.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10728655" cy="12700"/>
          </a:xfrm>
          <a:prstGeom prst="rect">
            <a:avLst/>
          </a:prstGeom>
          <a:solidFill>
            <a:srgbClr val="28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7315200" cy="274320"/>
          </a:xfrm>
          <a:prstGeom prst="rect">
            <a:avLst/>
          </a:prstGeom>
          <a:noFill/>
        </p:spPr>
        <p:txBody>
          <a:bodyPr wrap="square">
            <a:spAutoFit/>
          </a:bodyPr>
          <a:lstStyle/>
          <a:p>
            <a:pPr>
              <a:defRPr sz="900" b="1">
                <a:solidFill>
                  <a:srgbClr val="38BDF8"/>
                </a:solidFill>
                <a:latin typeface="Segoe UI"/>
              </a:defRPr>
            </a:pPr>
            <a:r>
              <a:t>EVOLUSI OPERASIONAL</a:t>
            </a:r>
          </a:p>
        </p:txBody>
      </p:sp>
      <p:sp>
        <p:nvSpPr>
          <p:cNvPr id="5" name="TextBox 4"/>
          <p:cNvSpPr txBox="1"/>
          <p:nvPr/>
        </p:nvSpPr>
        <p:spPr>
          <a:xfrm>
            <a:off x="8229600" y="320040"/>
            <a:ext cx="3200400" cy="274320"/>
          </a:xfrm>
          <a:prstGeom prst="rect">
            <a:avLst/>
          </a:prstGeom>
          <a:noFill/>
        </p:spPr>
        <p:txBody>
          <a:bodyPr wrap="none">
            <a:spAutoFit/>
          </a:bodyPr>
          <a:lstStyle/>
          <a:p>
            <a:pPr algn="r">
              <a:defRPr sz="850" b="1">
                <a:solidFill>
                  <a:srgbClr val="64748B"/>
                </a:solidFill>
                <a:latin typeface="Segoe UI"/>
              </a:defRPr>
            </a:pPr>
            <a:r>
              <a:t>TLP:CLEAR  //  THREAT INTEL BRIEFING</a:t>
            </a:r>
          </a:p>
        </p:txBody>
      </p:sp>
      <p:sp>
        <p:nvSpPr>
          <p:cNvPr id="6" name="TextBox 5"/>
          <p:cNvSpPr txBox="1"/>
          <p:nvPr/>
        </p:nvSpPr>
        <p:spPr>
          <a:xfrm>
            <a:off x="731520" y="548640"/>
            <a:ext cx="10728655" cy="594360"/>
          </a:xfrm>
          <a:prstGeom prst="rect">
            <a:avLst/>
          </a:prstGeom>
          <a:noFill/>
        </p:spPr>
        <p:txBody>
          <a:bodyPr wrap="square">
            <a:spAutoFit/>
          </a:bodyPr>
          <a:lstStyle/>
          <a:p>
            <a:pPr>
              <a:defRPr sz="2000" b="1">
                <a:solidFill>
                  <a:srgbClr val="F1F5F9"/>
                </a:solidFill>
                <a:latin typeface="Segoe UI"/>
              </a:defRPr>
            </a:pPr>
            <a:r>
              <a:t>Otomasi &amp; Multi-Agent CTI: Meningkatkan Kecepatan Triage Tanpa Menghilangkan Kontrol Analis</a:t>
            </a:r>
          </a:p>
        </p:txBody>
      </p:sp>
      <p:sp>
        <p:nvSpPr>
          <p:cNvPr id="7" name="Rectangle 6"/>
          <p:cNvSpPr/>
          <p:nvPr/>
        </p:nvSpPr>
        <p:spPr>
          <a:xfrm>
            <a:off x="731520" y="1463040"/>
            <a:ext cx="3474720" cy="3840480"/>
          </a:xfrm>
          <a:prstGeom prst="rect">
            <a:avLst/>
          </a:prstGeom>
          <a:solidFill>
            <a:srgbClr val="121826"/>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0200"/>
            <a:ext cx="3200400" cy="3566160"/>
          </a:xfrm>
          <a:prstGeom prst="rect">
            <a:avLst/>
          </a:prstGeom>
          <a:noFill/>
        </p:spPr>
        <p:txBody>
          <a:bodyPr wrap="square">
            <a:spAutoFit/>
          </a:bodyPr>
          <a:lstStyle/>
          <a:p>
            <a:pPr>
              <a:defRPr sz="1100" b="1">
                <a:solidFill>
                  <a:srgbClr val="F87171"/>
                </a:solidFill>
                <a:latin typeface="Segoe UI"/>
              </a:defRPr>
            </a:pPr>
            <a:r>
              <a:t>PROSES TRADISIONAL (MANUAL)</a:t>
            </a:r>
          </a:p>
          <a:p>
            <a:pPr>
              <a:spcBef>
                <a:spcPts val="300"/>
              </a:spcBef>
              <a:defRPr sz="950" b="1">
                <a:solidFill>
                  <a:srgbClr val="F1F5F9"/>
                </a:solidFill>
                <a:latin typeface="Segoe UI"/>
              </a:defRPr>
            </a:pPr>
            <a:r>
              <a:t>Waktu Triage: 2 - 4 Jam</a:t>
            </a:r>
          </a:p>
          <a:p>
            <a:pPr>
              <a:spcBef>
                <a:spcPts val="800"/>
              </a:spcBef>
              <a:defRPr sz="919">
                <a:solidFill>
                  <a:srgbClr val="94A3B8"/>
                </a:solidFill>
                <a:latin typeface="Segoe UI"/>
              </a:defRPr>
            </a:pPr>
            <a:r>
              <a:t>1. Analis menerima alert mentah dari SIEM.</a:t>
            </a:r>
            <a:br/>
            <a:r>
              <a:t>2. Melakukan query manual ke VirusTotal, AbuseIPDB, dan Shodan.</a:t>
            </a:r>
            <a:br/>
            <a:r>
              <a:t>3. Membuka laporan MITRE secara manual.</a:t>
            </a:r>
            <a:br/>
            <a:r>
              <a:t>4. Mengetik draf ringkasan ke tiket insiden.</a:t>
            </a:r>
            <a:br/>
            <a:br/>
            <a:r>
              <a:t>Kelemahan: Bottleneck manusia, keterlambatan mitigasi, dan kelelahan mental tim SOC.</a:t>
            </a:r>
          </a:p>
        </p:txBody>
      </p:sp>
      <p:sp>
        <p:nvSpPr>
          <p:cNvPr id="9" name="Rectangle 8"/>
          <p:cNvSpPr/>
          <p:nvPr/>
        </p:nvSpPr>
        <p:spPr>
          <a:xfrm>
            <a:off x="4343400" y="1463040"/>
            <a:ext cx="3474720" cy="3840480"/>
          </a:xfrm>
          <a:prstGeom prst="rect">
            <a:avLst/>
          </a:prstGeom>
          <a:solidFill>
            <a:srgbClr val="1218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600200"/>
            <a:ext cx="3200400" cy="3566160"/>
          </a:xfrm>
          <a:prstGeom prst="rect">
            <a:avLst/>
          </a:prstGeom>
          <a:noFill/>
        </p:spPr>
        <p:txBody>
          <a:bodyPr wrap="square">
            <a:spAutoFit/>
          </a:bodyPr>
          <a:lstStyle/>
          <a:p>
            <a:pPr>
              <a:defRPr sz="1100" b="1">
                <a:solidFill>
                  <a:srgbClr val="38BDF8"/>
                </a:solidFill>
                <a:latin typeface="Segoe UI"/>
              </a:defRPr>
            </a:pPr>
            <a:r>
              <a:t>ALUR OTOMASI MULTI-AGENT</a:t>
            </a:r>
          </a:p>
          <a:p>
            <a:pPr>
              <a:spcBef>
                <a:spcPts val="300"/>
              </a:spcBef>
              <a:defRPr sz="950" b="1">
                <a:solidFill>
                  <a:srgbClr val="F1F5F9"/>
                </a:solidFill>
                <a:latin typeface="Segoe UI"/>
              </a:defRPr>
            </a:pPr>
            <a:r>
              <a:t>Waktu Triage: &lt; 30 Detik</a:t>
            </a:r>
          </a:p>
          <a:p>
            <a:pPr>
              <a:spcBef>
                <a:spcPts val="800"/>
              </a:spcBef>
              <a:defRPr sz="919">
                <a:solidFill>
                  <a:srgbClr val="94A3B8"/>
                </a:solidFill>
                <a:latin typeface="Segoe UI"/>
              </a:defRPr>
            </a:pPr>
            <a:r>
              <a:t>1. Data telemetry masuk ke bus in-memory.</a:t>
            </a:r>
            <a:br/>
            <a:r>
              <a:t>2. Agen Recon: Mengekstrak kecepatan scan L4 &amp; rDNS.</a:t>
            </a:r>
            <a:br/>
            <a:r>
              <a:t>3. Agen DFIR: Mengekstrak metadata berkas &amp; checksum.</a:t>
            </a:r>
            <a:br/>
            <a:r>
              <a:t>4. Agen Atribusi: Memvalidasi korelasi token &amp; IP.</a:t>
            </a:r>
            <a:br/>
            <a:r>
              <a:t>5. Agen Strategi: Menghubungkan teknik ke MITRE.</a:t>
            </a:r>
            <a:br/>
            <a:br/>
            <a:r>
              <a:t>Keunggulan: Korelasi instan dengan data historis.</a:t>
            </a:r>
          </a:p>
        </p:txBody>
      </p:sp>
      <p:sp>
        <p:nvSpPr>
          <p:cNvPr id="11" name="Rectangle 10"/>
          <p:cNvSpPr/>
          <p:nvPr/>
        </p:nvSpPr>
        <p:spPr>
          <a:xfrm>
            <a:off x="7955279" y="1463040"/>
            <a:ext cx="3474720" cy="3840480"/>
          </a:xfrm>
          <a:prstGeom prst="rect">
            <a:avLst/>
          </a:prstGeom>
          <a:solidFill>
            <a:srgbClr val="1218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39" y="1600200"/>
            <a:ext cx="3200400" cy="3566160"/>
          </a:xfrm>
          <a:prstGeom prst="rect">
            <a:avLst/>
          </a:prstGeom>
          <a:noFill/>
        </p:spPr>
        <p:txBody>
          <a:bodyPr wrap="square">
            <a:spAutoFit/>
          </a:bodyPr>
          <a:lstStyle/>
          <a:p>
            <a:pPr>
              <a:defRPr sz="1100" b="1">
                <a:solidFill>
                  <a:srgbClr val="34D399"/>
                </a:solidFill>
                <a:latin typeface="Segoe UI"/>
              </a:defRPr>
            </a:pPr>
            <a:r>
              <a:t>HUMAN-IN-THE-LOOP CONTROL</a:t>
            </a:r>
          </a:p>
          <a:p>
            <a:pPr>
              <a:spcBef>
                <a:spcPts val="300"/>
              </a:spcBef>
              <a:defRPr sz="950" b="1">
                <a:solidFill>
                  <a:srgbClr val="F1F5F9"/>
                </a:solidFill>
                <a:latin typeface="Segoe UI"/>
              </a:defRPr>
            </a:pPr>
            <a:r>
              <a:t>Keputusan Akhir di Tangan Analis</a:t>
            </a:r>
          </a:p>
          <a:p>
            <a:pPr>
              <a:spcBef>
                <a:spcPts val="800"/>
              </a:spcBef>
              <a:defRPr sz="919">
                <a:solidFill>
                  <a:srgbClr val="94A3B8"/>
                </a:solidFill>
                <a:latin typeface="Segoe UI"/>
              </a:defRPr>
            </a:pPr>
            <a:r>
              <a:t>1. Sistem menyajikan draf investigasi terstruktur lengkap dengan bukti teknis.</a:t>
            </a:r>
            <a:br/>
            <a:r>
              <a:t>2. Analis senior memvalidasi rekomendasi tindakan.</a:t>
            </a:r>
            <a:br/>
            <a:r>
              <a:t>3. Eksekusi firewall rule dan isolasi perangkat dilakukan dengan satu klik konfirmasi.</a:t>
            </a:r>
            <a:br/>
            <a:br/>
            <a:r>
              <a:t>Hasil: Produktivitas naik 10x dengan risiko mitigasi salah (false-block) terkendali.</a:t>
            </a:r>
          </a:p>
        </p:txBody>
      </p:sp>
      <p:sp>
        <p:nvSpPr>
          <p:cNvPr id="13" name="Rectangle 12"/>
          <p:cNvSpPr/>
          <p:nvPr/>
        </p:nvSpPr>
        <p:spPr>
          <a:xfrm>
            <a:off x="731520" y="5486400"/>
            <a:ext cx="10728655" cy="822960"/>
          </a:xfrm>
          <a:prstGeom prst="rect">
            <a:avLst/>
          </a:prstGeom>
          <a:solidFill>
            <a:srgbClr val="182032"/>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59552"/>
            <a:ext cx="10332720" cy="685800"/>
          </a:xfrm>
          <a:prstGeom prst="rect">
            <a:avLst/>
          </a:prstGeom>
          <a:noFill/>
        </p:spPr>
        <p:txBody>
          <a:bodyPr wrap="none">
            <a:spAutoFit/>
          </a:bodyPr>
          <a:lstStyle/>
          <a:p>
            <a:pPr>
              <a:defRPr sz="900" b="1">
                <a:solidFill>
                  <a:srgbClr val="FBBF24"/>
                </a:solidFill>
                <a:latin typeface="Segoe UI"/>
              </a:defRPr>
            </a:pPr>
            <a:r>
              <a:t>RINGKASAN EKSEKUTIF CTI</a:t>
            </a:r>
          </a:p>
          <a:p>
            <a:pPr>
              <a:spcBef>
                <a:spcPts val="200"/>
              </a:spcBef>
              <a:defRPr sz="980">
                <a:solidFill>
                  <a:srgbClr val="F1F5F9"/>
                </a:solidFill>
                <a:latin typeface="Segoe UI"/>
              </a:defRPr>
            </a:pPr>
            <a:r>
              <a:t>Cyber Threat Intelligence yang efektif bukan tentang seberapa banyak data yang dikumpulkan, melainkan seberapa cepat intelijen tersebut membantu analis mengambil keputusan yang tepat untuk menghentikan musuh sebelum dampak finansial terjadi.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